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Temperature</c:v>
          </c:tx>
          <c:spPr>
            <a:ln w="28575">
              <a:solidFill>
                <a:srgbClr val="F3AA77"/>
              </a:solidFill>
            </a:ln>
          </c:spPr>
          <c:marker>
            <c:symbol val="circle"/>
            <c:size val="7"/>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34</c:v>
                </c:pt>
                <c:pt idx="1">
                  <c:v>36</c:v>
                </c:pt>
                <c:pt idx="2">
                  <c:v>38</c:v>
                </c:pt>
                <c:pt idx="3">
                  <c:v>39</c:v>
                </c:pt>
                <c:pt idx="4">
                  <c:v>41</c:v>
                </c:pt>
                <c:pt idx="5">
                  <c:v>40</c:v>
                </c:pt>
                <c:pt idx="6">
                  <c:v>37</c:v>
                </c:pt>
                <c:pt idx="7">
                  <c:v>35</c:v>
                </c:pt>
                <c:pt idx="8">
                  <c:v>39</c:v>
                </c:pt>
                <c:pt idx="9">
                  <c:v>42</c:v>
                </c:pt>
              </c:numCache>
            </c:numRef>
          </c:val>
          <c:smooth val="0"/>
          <c:extLst>
            <c:ext xmlns:c16="http://schemas.microsoft.com/office/drawing/2014/chart" uri="{C3380CC4-5D6E-409C-BE32-E72D297353CC}">
              <c16:uniqueId val="{00000000-1383-4177-A4A0-3F100F37805A}"/>
            </c:ext>
          </c:extLst>
        </c:ser>
        <c:ser>
          <c:idx val="1"/>
          <c:order val="1"/>
          <c:tx>
            <c:v>37°C threshold</c:v>
          </c:tx>
          <c:spPr>
            <a:ln w="19050">
              <a:solidFill>
                <a:srgbClr val="9BCCED"/>
              </a:solidFill>
              <a:prstDash val="dash"/>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37</c:v>
                </c:pt>
                <c:pt idx="1">
                  <c:v>37</c:v>
                </c:pt>
                <c:pt idx="2">
                  <c:v>37</c:v>
                </c:pt>
                <c:pt idx="3">
                  <c:v>37</c:v>
                </c:pt>
                <c:pt idx="4">
                  <c:v>37</c:v>
                </c:pt>
                <c:pt idx="5">
                  <c:v>37</c:v>
                </c:pt>
                <c:pt idx="6">
                  <c:v>37</c:v>
                </c:pt>
                <c:pt idx="7">
                  <c:v>37</c:v>
                </c:pt>
                <c:pt idx="8">
                  <c:v>37</c:v>
                </c:pt>
                <c:pt idx="9">
                  <c:v>37</c:v>
                </c:pt>
              </c:numCache>
            </c:numRef>
          </c:val>
          <c:smooth val="0"/>
          <c:extLst>
            <c:ext xmlns:c16="http://schemas.microsoft.com/office/drawing/2014/chart" uri="{C3380CC4-5D6E-409C-BE32-E72D297353CC}">
              <c16:uniqueId val="{00000001-1383-4177-A4A0-3F100F37805A}"/>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n-IN" sz="1500">
                    <a:solidFill>
                      <a:srgbClr val="C6D4DB"/>
                    </a:solidFill>
                    <a:latin typeface="DejaVu Sans"/>
                    <a:ea typeface="DejaVu Sans"/>
                    <a:cs typeface="DejaVu Sans"/>
                  </a:rPr>
                  <a:t>Reading number</a:t>
                </a:r>
              </a:p>
            </c:rich>
          </c:tx>
          <c:overlay val="0"/>
        </c:title>
        <c:numFmt formatCode="General" sourceLinked="1"/>
        <c:majorTickMark val="none"/>
        <c:minorTickMark val="none"/>
        <c:tickLblPos val="nextTo"/>
        <c:spPr>
          <a:ln w="9525">
            <a:solidFill>
              <a:srgbClr val="3B5260"/>
            </a:solidFill>
          </a:ln>
        </c:spPr>
        <c:txPr>
          <a:bodyPr anchorCtr="1"/>
          <a:lstStyle/>
          <a:p>
            <a:pPr>
              <a:defRPr sz="1500">
                <a:solidFill>
                  <a:srgbClr val="C6D4DB"/>
                </a:solidFill>
                <a:latin typeface="DejaVu Sans"/>
                <a:ea typeface="DejaVu Sans"/>
                <a:cs typeface="DejaVu Sans"/>
              </a:defRPr>
            </a:pPr>
            <a:endParaRPr lang="en-US"/>
          </a:p>
        </c:txPr>
        <c:crossAx val="48672768"/>
        <c:crosses val="autoZero"/>
        <c:auto val="1"/>
        <c:lblAlgn val="ctr"/>
        <c:lblOffset val="100"/>
        <c:noMultiLvlLbl val="1"/>
      </c:catAx>
      <c:valAx>
        <c:axId val="48672768"/>
        <c:scaling>
          <c:orientation val="minMax"/>
          <c:max val="45"/>
          <c:min val="30"/>
        </c:scaling>
        <c:delete val="0"/>
        <c:axPos val="l"/>
        <c:majorGridlines>
          <c:spPr>
            <a:ln w="9525">
              <a:solidFill>
                <a:srgbClr val="3B5260"/>
              </a:solidFill>
            </a:ln>
          </c:spPr>
        </c:majorGridlines>
        <c:title>
          <c:tx>
            <c:rich>
              <a:bodyPr/>
              <a:lstStyle/>
              <a:p>
                <a:r>
                  <a:rPr lang="en-IN" sz="1500">
                    <a:solidFill>
                      <a:srgbClr val="C6D4DB"/>
                    </a:solidFill>
                    <a:latin typeface="DejaVu Sans"/>
                    <a:ea typeface="DejaVu Sans"/>
                    <a:cs typeface="DejaVu Sans"/>
                  </a:rPr>
                  <a:t>Temperature (°C)</a:t>
                </a:r>
              </a:p>
            </c:rich>
          </c:tx>
          <c:overlay val="0"/>
        </c:title>
        <c:numFmt formatCode="0" sourceLinked="1"/>
        <c:majorTickMark val="none"/>
        <c:minorTickMark val="none"/>
        <c:tickLblPos val="nextTo"/>
        <c:spPr>
          <a:ln w="9525">
            <a:solidFill>
              <a:srgbClr val="3B5260"/>
            </a:solidFill>
            <a:prstDash val="solid"/>
          </a:ln>
        </c:spPr>
        <c:txPr>
          <a:bodyPr anchorCtr="1"/>
          <a:lstStyle/>
          <a:p>
            <a:pPr>
              <a:defRPr sz="1500">
                <a:solidFill>
                  <a:srgbClr val="C6D4DB"/>
                </a:solidFill>
                <a:latin typeface="DejaVu Sans"/>
                <a:ea typeface="DejaVu Sans"/>
                <a:cs typeface="DejaVu Sans"/>
              </a:defRPr>
            </a:pPr>
            <a:endParaRPr lang="en-US"/>
          </a:p>
        </c:txPr>
        <c:crossAx val="48650112"/>
        <c:crosses val="autoZero"/>
        <c:crossBetween val="between"/>
        <c:majorUnit val="5"/>
      </c:valAx>
      <c:spPr>
        <a:solidFill>
          <a:srgbClr val="162631"/>
        </a:solidFill>
        <a:ln w="0">
          <a:noFill/>
        </a:ln>
      </c:spPr>
    </c:plotArea>
    <c:legend>
      <c:legendPos val="b"/>
      <c:overlay val="0"/>
      <c:txPr>
        <a:bodyPr anchorCtr="1"/>
        <a:lstStyle/>
        <a:p>
          <a:pPr>
            <a:defRPr sz="1500">
              <a:solidFill>
                <a:srgbClr val="C6D4DB"/>
              </a:solidFill>
              <a:latin typeface="DejaVu Sans"/>
              <a:ea typeface="DejaVu Sans"/>
              <a:cs typeface="DejaVu Sans"/>
            </a:defRPr>
          </a:pPr>
          <a:endParaRPr lang="en-US"/>
        </a:p>
      </c:txPr>
    </c:legend>
    <c:plotVisOnly val="1"/>
    <c:dispBlanksAs val="zero"/>
    <c:showDLblsOverMax val="1"/>
  </c:chart>
  <c:spPr>
    <a:solidFill>
      <a:srgbClr val="162631"/>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Heatwatch as an offline browser-based heatwave monitoring demonstration. The team members are Vedant Chawda, Eshan Desai and Kehan Desai. All current conditions are labelled samples or manual entries. Visual: an AI-generated illustrative skyline created for the Heatwatch website, not a photograph of a documented heatwave.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interface problem: raw weather numbers do not automatically communicate the meaning of the simplified rules. The aim is to make inputs, the calculated category and related advice easy to understand. This is a design motivation, not a measured usability study. Visual: original AI-generated shade image used in Heatwatch.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completed features match these objectives. Point out the five risk categories, field-level errors, the readings analysis and responsive offline behavior. Visual: original AI-generated water image used in Heatwatch.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completed index.html, style.css and script.js. The Bootstrap 5.3.8 grid subset is embedded locally with its license. The site needs no build tool, CDN or backend. One shared climate object supplies the dashboard and report, while events trigger validation and rendering.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script.js determineRisk() and the on-page risk explanation. Severe takes priority over high, then an early forecast warning takes priority over moderate. Dry current temperatures of 38–39.9°C remain moderate unless the forecast reaches 40°C. Threshold status uses temperature &gt;= threshold. These rules demonstrate the supplied course material and do not constitute an official warning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actual screenshot of the completed Heatwatch website using the original Mumbai preset. Show the current temperature, humidity, next-day forecast, threshold difference, calculated risk and alert controls. The screenshot displays a sample observation and no live sensor feed.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live demo: open heatwave_monitoring.html. From the initial Mumbai sample, use Try next scenario to show Pune (moderate), Nagpur (severe), Delhi (early warning) and Shimla (normal). Enter humidity 101 and submit to show the range error. Correct it to 65, apply the form, then use Reset demo. If time permits, show Celsius/Fahrenheit and CSV download/import. Source: actual form screenshot and tested controls in script.js.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the supplied sample array reproduced in script.js: [34,36,38,39,41,40,37,35,39,42]. Sum 381°C across 10 readings gives mean 38.1°C. Minimum 34°C and maximum 42°C. Six readings exceed 37°C. Three readings reach or exceed 40°C: 41, 40 and 42. These are illustrative readings, not live measurements. Outcome statements refer to the actual browser verification of the finished files. They do not imply a real-world health benefit or field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Conclude with what already works: the offline dashboard, manual inputs, risk explanations and array analysis. Future items are proposed enhancements and are not implemented. A real deployment would need verified data sources and location-specific official rules. Visual: original AI-generated weather-station image used in Heatwatch.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CC9FB9C-5408-4379-ABC4-F022ACCA9380}"/>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90E58162-55B8-4FA2-BE32-A02DB655D54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71C42185-9C1B-4FF1-8841-4B46EEBAB1A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3D7D4836-2D71-4BF2-9528-4F639CD845E3}"/>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79B30316-C869-4518-AB19-6FC28EA4228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4A955F53-E6E6-4205-B583-26689B0025A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8574FEE2-2872-463A-81D9-29BB6BDA737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23AAF5BF-412C-4744-95D7-E47DCC083F8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8858B96E-6E56-4878-8B3E-59958FF207C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6B0A23CB-B597-4320-A8D9-85E4B9246B66}"/>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3428EEC-7DAC-450F-B69F-77BB41D1179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6D61C66A-6617-4619-82FF-9877E3A68DB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s://github.com/kehandesai/WDL-PP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25756" r="25756"/>
          <a:stretch>
            <a:fillRect/>
          </a:stretch>
        </p:blipFill>
        <p:spPr>
          <a:xfrm>
            <a:off x="7200900" y="0"/>
            <a:ext cx="4991100" cy="6858000"/>
          </a:xfrm>
          <a:prstGeom prst="rect">
            <a:avLst/>
          </a:prstGeom>
        </p:spPr>
      </p:pic>
      <p:sp>
        <p:nvSpPr>
          <p:cNvPr id="2" name="HEATWATCH">
            <a:extLst>
              <a:ext uri="{FF2B5EF4-FFF2-40B4-BE49-F238E27FC236}">
                <a16:creationId xmlns:a16="http://schemas.microsoft.com/office/drawing/2014/main" id="{ECACCD00-A235-4B9A-AAC6-7005D79D9DAF}"/>
              </a:ext>
            </a:extLst>
          </p:cNvPr>
          <p:cNvSpPr>
            <a:spLocks noGrp="1"/>
          </p:cNvSpPr>
          <p:nvPr/>
        </p:nvSpPr>
        <p:spPr>
          <a:xfrm>
            <a:off x="609600" y="590550"/>
            <a:ext cx="5715000" cy="361950"/>
          </a:xfrm>
          <a:prstGeom prst="rect">
            <a:avLst/>
          </a:prstGeom>
          <a:noFill/>
          <a:ln w="0">
            <a:noFill/>
          </a:ln>
        </p:spPr>
        <p:txBody>
          <a:bodyPr wrap="square" lIns="0" tIns="0" rIns="0" bIns="0" anchor="t">
            <a:noAutofit/>
          </a:bodyPr>
          <a:lstStyle/>
          <a:p>
            <a:pPr>
              <a:buNone/>
              <a:defRPr sz="2025" b="1">
                <a:solidFill>
                  <a:srgbClr val="F3AA77"/>
                </a:solidFill>
                <a:latin typeface="DejaVu Sans"/>
                <a:ea typeface="DejaVu Sans"/>
                <a:cs typeface="DejaVu Sans"/>
              </a:defRPr>
            </a:pPr>
            <a:r>
              <a:rPr sz="2025" b="1">
                <a:solidFill>
                  <a:srgbClr val="F3AA77"/>
                </a:solidFill>
                <a:latin typeface="DejaVu Sans"/>
                <a:ea typeface="DejaVu Sans"/>
                <a:cs typeface="DejaVu Sans"/>
              </a:rPr>
              <a:t>HEATWATCH</a:t>
            </a:r>
          </a:p>
        </p:txBody>
      </p:sp>
      <p:sp>
        <p:nvSpPr>
          <p:cNvPr id="3" name="Heatwave Monitoring">
            <a:extLst>
              <a:ext uri="{FF2B5EF4-FFF2-40B4-BE49-F238E27FC236}">
                <a16:creationId xmlns:a16="http://schemas.microsoft.com/office/drawing/2014/main" id="{26D4ED16-9E17-48D9-8205-077D1E1861C6}"/>
              </a:ext>
            </a:extLst>
          </p:cNvPr>
          <p:cNvSpPr>
            <a:spLocks noGrp="1"/>
          </p:cNvSpPr>
          <p:nvPr/>
        </p:nvSpPr>
        <p:spPr>
          <a:xfrm>
            <a:off x="609600" y="1724025"/>
            <a:ext cx="6572250" cy="1809750"/>
          </a:xfrm>
          <a:prstGeom prst="rect">
            <a:avLst/>
          </a:prstGeom>
          <a:noFill/>
          <a:ln w="0">
            <a:noFill/>
          </a:ln>
        </p:spPr>
        <p:txBody>
          <a:bodyPr wrap="square" lIns="0" tIns="0" rIns="0" bIns="0" anchor="t">
            <a:noAutofit/>
          </a:bodyPr>
          <a:lstStyle/>
          <a:p>
            <a:pPr>
              <a:buNone/>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Heatwave</a:t>
            </a:r>
          </a:p>
          <a:p>
            <a:pPr>
              <a:buNone/>
              <a:defRPr sz="5400" b="1">
                <a:solidFill>
                  <a:srgbClr val="FFFFFF"/>
                </a:solidFill>
                <a:latin typeface="DejaVu Sans"/>
                <a:ea typeface="DejaVu Sans"/>
                <a:cs typeface="DejaVu Sans"/>
              </a:defRPr>
            </a:pPr>
            <a:r>
              <a:rPr sz="5400" b="1">
                <a:solidFill>
                  <a:srgbClr val="FFFFFF"/>
                </a:solidFill>
                <a:latin typeface="DejaVu Sans"/>
                <a:ea typeface="DejaVu Sans"/>
                <a:cs typeface="DejaVu Sans"/>
              </a:rPr>
              <a:t>Monitoring</a:t>
            </a:r>
          </a:p>
        </p:txBody>
      </p:sp>
      <p:sp>
        <p:nvSpPr>
          <p:cNvPr id="4" name="An interactive website for exploring heat conditions and pra">
            <a:extLst>
              <a:ext uri="{FF2B5EF4-FFF2-40B4-BE49-F238E27FC236}">
                <a16:creationId xmlns:a16="http://schemas.microsoft.com/office/drawing/2014/main" id="{71FDAFED-7D7E-4A7A-BD4A-9AF0F421F61F}"/>
              </a:ext>
            </a:extLst>
          </p:cNvPr>
          <p:cNvSpPr>
            <a:spLocks noGrp="1"/>
          </p:cNvSpPr>
          <p:nvPr/>
        </p:nvSpPr>
        <p:spPr>
          <a:xfrm>
            <a:off x="609600" y="3781425"/>
            <a:ext cx="6191250" cy="819150"/>
          </a:xfrm>
          <a:prstGeom prst="rect">
            <a:avLst/>
          </a:prstGeom>
          <a:noFill/>
          <a:ln w="0">
            <a:noFill/>
          </a:ln>
        </p:spPr>
        <p:txBody>
          <a:bodyPr wrap="square" lIns="0" tIns="0" rIns="0" bIns="0" anchor="t">
            <a:noAutofit/>
          </a:bodyPr>
          <a:lstStyle/>
          <a:p>
            <a:pPr>
              <a:buNone/>
              <a:defRPr sz="2025" b="0">
                <a:solidFill>
                  <a:srgbClr val="C6D4DB"/>
                </a:solidFill>
                <a:latin typeface="DejaVu Sans"/>
                <a:ea typeface="DejaVu Sans"/>
                <a:cs typeface="DejaVu Sans"/>
              </a:defRPr>
            </a:pPr>
            <a:r>
              <a:rPr sz="2025" b="0">
                <a:solidFill>
                  <a:srgbClr val="C6D4DB"/>
                </a:solidFill>
                <a:latin typeface="DejaVu Sans"/>
                <a:ea typeface="DejaVu Sans"/>
                <a:cs typeface="DejaVu Sans"/>
              </a:rPr>
              <a:t>An interactive website for exploring</a:t>
            </a:r>
          </a:p>
          <a:p>
            <a:pPr>
              <a:buNone/>
              <a:defRPr sz="2025" b="0">
                <a:solidFill>
                  <a:srgbClr val="C6D4DB"/>
                </a:solidFill>
                <a:latin typeface="DejaVu Sans"/>
                <a:ea typeface="DejaVu Sans"/>
                <a:cs typeface="DejaVu Sans"/>
              </a:defRPr>
            </a:pPr>
            <a:r>
              <a:rPr sz="2025" b="0">
                <a:solidFill>
                  <a:srgbClr val="C6D4DB"/>
                </a:solidFill>
                <a:latin typeface="DejaVu Sans"/>
                <a:ea typeface="DejaVu Sans"/>
                <a:cs typeface="DejaVu Sans"/>
              </a:rPr>
              <a:t>heat conditions and practical precautions</a:t>
            </a:r>
          </a:p>
        </p:txBody>
      </p:sp>
      <p:sp>
        <p:nvSpPr>
          <p:cNvPr id="5" name="TEAM MEMBERS">
            <a:extLst>
              <a:ext uri="{FF2B5EF4-FFF2-40B4-BE49-F238E27FC236}">
                <a16:creationId xmlns:a16="http://schemas.microsoft.com/office/drawing/2014/main" id="{0575150E-B097-42CE-86B5-DB461AC11FA5}"/>
              </a:ext>
            </a:extLst>
          </p:cNvPr>
          <p:cNvSpPr>
            <a:spLocks noGrp="1"/>
          </p:cNvSpPr>
          <p:nvPr/>
        </p:nvSpPr>
        <p:spPr>
          <a:xfrm>
            <a:off x="609600" y="5238750"/>
            <a:ext cx="5715000" cy="266700"/>
          </a:xfrm>
          <a:prstGeom prst="rect">
            <a:avLst/>
          </a:prstGeom>
          <a:noFill/>
          <a:ln w="0">
            <a:noFill/>
          </a:ln>
        </p:spPr>
        <p:txBody>
          <a:bodyPr wrap="square" lIns="0" tIns="0" rIns="0" bIns="0" anchor="t">
            <a:noAutofit/>
          </a:bodyPr>
          <a:lstStyle/>
          <a:p>
            <a:pPr>
              <a:buNone/>
              <a:defRPr sz="1350" b="1">
                <a:solidFill>
                  <a:srgbClr val="F3AA77"/>
                </a:solidFill>
                <a:latin typeface="DejaVu Sans"/>
                <a:ea typeface="DejaVu Sans"/>
                <a:cs typeface="DejaVu Sans"/>
              </a:defRPr>
            </a:pPr>
            <a:r>
              <a:rPr sz="1350" b="1">
                <a:solidFill>
                  <a:srgbClr val="F3AA77"/>
                </a:solidFill>
                <a:latin typeface="DejaVu Sans"/>
                <a:ea typeface="DejaVu Sans"/>
                <a:cs typeface="DejaVu Sans"/>
              </a:rPr>
              <a:t>TEAM MEMBERS</a:t>
            </a:r>
          </a:p>
        </p:txBody>
      </p:sp>
      <p:sp>
        <p:nvSpPr>
          <p:cNvPr id="6" name="Vedant Chawda Eshan Desai Kehan Desai">
            <a:extLst>
              <a:ext uri="{FF2B5EF4-FFF2-40B4-BE49-F238E27FC236}">
                <a16:creationId xmlns:a16="http://schemas.microsoft.com/office/drawing/2014/main" id="{016E126B-48B4-4D87-A51D-12B272958F74}"/>
              </a:ext>
            </a:extLst>
          </p:cNvPr>
          <p:cNvSpPr>
            <a:spLocks noGrp="1"/>
          </p:cNvSpPr>
          <p:nvPr/>
        </p:nvSpPr>
        <p:spPr>
          <a:xfrm>
            <a:off x="609600" y="5591175"/>
            <a:ext cx="5953125" cy="962025"/>
          </a:xfrm>
          <a:prstGeom prst="rect">
            <a:avLst/>
          </a:prstGeom>
          <a:noFill/>
          <a:ln w="0">
            <a:noFill/>
          </a:ln>
        </p:spPr>
        <p:txBody>
          <a:bodyPr wrap="square" lIns="0" tIns="0" rIns="0" bIns="0" anchor="t">
            <a:noAutofit/>
          </a:bodyPr>
          <a:lstStyle/>
          <a:p>
            <a:pPr>
              <a:buNone/>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Vedant Chawda</a:t>
            </a:r>
          </a:p>
          <a:p>
            <a:pPr>
              <a:buNone/>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Eshan Desai</a:t>
            </a:r>
          </a:p>
          <a:p>
            <a:pPr>
              <a:buNone/>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Kehan Desai</a:t>
            </a:r>
          </a:p>
        </p:txBody>
      </p:sp>
    </p:spTree>
    <p:extLst>
      <p:ext uri="{BB962C8B-B14F-4D97-AF65-F5344CB8AC3E}">
        <p14:creationId xmlns:p14="http://schemas.microsoft.com/office/powerpoint/2010/main" val="1589132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7" name="Problem statement">
            <a:extLst>
              <a:ext uri="{FF2B5EF4-FFF2-40B4-BE49-F238E27FC236}">
                <a16:creationId xmlns:a16="http://schemas.microsoft.com/office/drawing/2014/main" id="{9AE09C5D-A258-4095-9360-B3B38017415C}"/>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Problem statement</a:t>
            </a:r>
          </a:p>
        </p:txBody>
      </p:sp>
      <p:sp>
        <p:nvSpPr>
          <p:cNvPr id="2" name="Weather values need context">
            <a:extLst>
              <a:ext uri="{FF2B5EF4-FFF2-40B4-BE49-F238E27FC236}">
                <a16:creationId xmlns:a16="http://schemas.microsoft.com/office/drawing/2014/main" id="{0C911E96-1A38-4BE1-957E-34CDDBED869D}"/>
              </a:ext>
            </a:extLst>
          </p:cNvPr>
          <p:cNvSpPr>
            <a:spLocks noGrp="1"/>
          </p:cNvSpPr>
          <p:nvPr/>
        </p:nvSpPr>
        <p:spPr>
          <a:xfrm>
            <a:off x="609600" y="1647825"/>
            <a:ext cx="5429250" cy="952500"/>
          </a:xfrm>
          <a:prstGeom prst="rect">
            <a:avLst/>
          </a:prstGeom>
          <a:noFill/>
          <a:ln w="0">
            <a:noFill/>
          </a:ln>
        </p:spPr>
        <p:txBody>
          <a:bodyPr wrap="square" lIns="0" tIns="0" rIns="0" bIns="0" anchor="t">
            <a:noAutofit/>
          </a:bodyPr>
          <a:lstStyle/>
          <a:p>
            <a:pPr>
              <a:buNone/>
              <a:defRPr sz="2625" b="1">
                <a:solidFill>
                  <a:srgbClr val="263B47"/>
                </a:solidFill>
                <a:latin typeface="DejaVu Sans"/>
                <a:ea typeface="DejaVu Sans"/>
                <a:cs typeface="DejaVu Sans"/>
              </a:defRPr>
            </a:pPr>
            <a:r>
              <a:rPr sz="2625" b="1">
                <a:solidFill>
                  <a:srgbClr val="FFFFFF"/>
                </a:solidFill>
                <a:latin typeface="DejaVu Sans"/>
                <a:ea typeface="DejaVu Sans"/>
                <a:cs typeface="DejaVu Sans"/>
              </a:rPr>
              <a:t>Weather values need context</a:t>
            </a:r>
          </a:p>
        </p:txBody>
      </p:sp>
      <p:sp>
        <p:nvSpPr>
          <p:cNvPr id="3" name="Temperature, humidity and forecast values can be difficult t">
            <a:extLst>
              <a:ext uri="{FF2B5EF4-FFF2-40B4-BE49-F238E27FC236}">
                <a16:creationId xmlns:a16="http://schemas.microsoft.com/office/drawing/2014/main" id="{0A9E20E1-0BDF-48C2-8E7E-90DB2241D369}"/>
              </a:ext>
            </a:extLst>
          </p:cNvPr>
          <p:cNvSpPr>
            <a:spLocks noGrp="1"/>
          </p:cNvSpPr>
          <p:nvPr/>
        </p:nvSpPr>
        <p:spPr>
          <a:xfrm>
            <a:off x="609600" y="2838450"/>
            <a:ext cx="5191125" cy="1123950"/>
          </a:xfrm>
          <a:prstGeom prst="rect">
            <a:avLst/>
          </a:prstGeom>
          <a:noFill/>
          <a:ln w="0">
            <a:noFill/>
          </a:ln>
        </p:spPr>
        <p:txBody>
          <a:bodyPr wrap="square" lIns="0" tIns="0" rIns="0" bIns="0" anchor="t">
            <a:noAutofit/>
          </a:bodyPr>
          <a:lstStyle/>
          <a:p>
            <a:pPr>
              <a:buNone/>
              <a:defRPr sz="2025" b="0">
                <a:solidFill>
                  <a:srgbClr val="576976"/>
                </a:solidFill>
                <a:latin typeface="DejaVu Sans"/>
                <a:ea typeface="DejaVu Sans"/>
                <a:cs typeface="DejaVu Sans"/>
              </a:defRPr>
            </a:pPr>
            <a:r>
              <a:rPr sz="2025" b="0" dirty="0">
                <a:solidFill>
                  <a:srgbClr val="C6D4DB"/>
                </a:solidFill>
                <a:latin typeface="DejaVu Sans"/>
                <a:ea typeface="DejaVu Sans"/>
                <a:cs typeface="DejaVu Sans"/>
              </a:rPr>
              <a:t>Temperature, humidity and forecast values can be difficult to compare when shown separately.</a:t>
            </a:r>
          </a:p>
        </p:txBody>
      </p:sp>
      <p:sp>
        <p:nvSpPr>
          <p:cNvPr id="4" name="Users need a clear risk category, relevant precautions and a">
            <a:extLst>
              <a:ext uri="{FF2B5EF4-FFF2-40B4-BE49-F238E27FC236}">
                <a16:creationId xmlns:a16="http://schemas.microsoft.com/office/drawing/2014/main" id="{307E624B-02BF-427E-B44B-52303EFB010E}"/>
              </a:ext>
            </a:extLst>
          </p:cNvPr>
          <p:cNvSpPr>
            <a:spLocks noGrp="1"/>
          </p:cNvSpPr>
          <p:nvPr/>
        </p:nvSpPr>
        <p:spPr>
          <a:xfrm>
            <a:off x="609600" y="4324350"/>
            <a:ext cx="5191125" cy="1219200"/>
          </a:xfrm>
          <a:prstGeom prst="rect">
            <a:avLst/>
          </a:prstGeom>
          <a:noFill/>
          <a:ln w="0">
            <a:noFill/>
          </a:ln>
        </p:spPr>
        <p:txBody>
          <a:bodyPr wrap="square" lIns="0" tIns="0" rIns="0" bIns="0" anchor="t">
            <a:noAutofit/>
          </a:bodyPr>
          <a:lstStyle/>
          <a:p>
            <a:pPr>
              <a:buNone/>
              <a:defRPr sz="2025" b="0">
                <a:solidFill>
                  <a:srgbClr val="576976"/>
                </a:solidFill>
                <a:latin typeface="DejaVu Sans"/>
                <a:ea typeface="DejaVu Sans"/>
                <a:cs typeface="DejaVu Sans"/>
              </a:defRPr>
            </a:pPr>
            <a:r>
              <a:rPr sz="2025" b="0">
                <a:solidFill>
                  <a:srgbClr val="C6D4DB"/>
                </a:solidFill>
                <a:latin typeface="DejaVu Sans"/>
                <a:ea typeface="DejaVu Sans"/>
                <a:cs typeface="DejaVu Sans"/>
              </a:rPr>
              <a:t>Users need a clear risk category, relevant precautions and a layout that works on small screens.</a:t>
            </a:r>
          </a:p>
        </p:txBody>
      </p:sp>
      <p:pic>
        <p:nvPicPr>
          <p:cNvPr id="13" name="Picture 12"/>
          <p:cNvPicPr>
            <a:picLocks noChangeAspect="1"/>
          </p:cNvPicPr>
          <p:nvPr/>
        </p:nvPicPr>
        <p:blipFill>
          <a:blip r:embed="rId3"/>
          <a:srcRect l="11111" r="11111"/>
          <a:stretch>
            <a:fillRect/>
          </a:stretch>
        </p:blipFill>
        <p:spPr>
          <a:xfrm>
            <a:off x="6534150" y="1609725"/>
            <a:ext cx="5048250" cy="4324350"/>
          </a:xfrm>
          <a:prstGeom prst="rect">
            <a:avLst/>
          </a:prstGeom>
        </p:spPr>
      </p:pic>
      <p:sp>
        <p:nvSpPr>
          <p:cNvPr id="6" name="02">
            <a:extLst>
              <a:ext uri="{FF2B5EF4-FFF2-40B4-BE49-F238E27FC236}">
                <a16:creationId xmlns:a16="http://schemas.microsoft.com/office/drawing/2014/main" id="{3A5810A6-B89E-4BFD-91EF-99F184869458}"/>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483176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16" name="Objectives">
            <a:extLst>
              <a:ext uri="{FF2B5EF4-FFF2-40B4-BE49-F238E27FC236}">
                <a16:creationId xmlns:a16="http://schemas.microsoft.com/office/drawing/2014/main" id="{4045CE0D-5B1A-4A30-B34B-314EFA2D36AF}"/>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Objectives</a:t>
            </a:r>
          </a:p>
        </p:txBody>
      </p:sp>
      <p:sp>
        <p:nvSpPr>
          <p:cNvPr id="2" name="01">
            <a:extLst>
              <a:ext uri="{FF2B5EF4-FFF2-40B4-BE49-F238E27FC236}">
                <a16:creationId xmlns:a16="http://schemas.microsoft.com/office/drawing/2014/main" id="{E3567667-3201-40BF-9735-FC3B951734B4}"/>
              </a:ext>
            </a:extLst>
          </p:cNvPr>
          <p:cNvSpPr>
            <a:spLocks noGrp="1"/>
          </p:cNvSpPr>
          <p:nvPr/>
        </p:nvSpPr>
        <p:spPr>
          <a:xfrm>
            <a:off x="609600" y="1666875"/>
            <a:ext cx="552450"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01</a:t>
            </a:r>
          </a:p>
        </p:txBody>
      </p:sp>
      <p:sp>
        <p:nvSpPr>
          <p:cNvPr id="3" name="Show clear risk levels">
            <a:extLst>
              <a:ext uri="{FF2B5EF4-FFF2-40B4-BE49-F238E27FC236}">
                <a16:creationId xmlns:a16="http://schemas.microsoft.com/office/drawing/2014/main" id="{0E15FE1D-930C-4224-8FC4-B2DF1F699EA7}"/>
              </a:ext>
            </a:extLst>
          </p:cNvPr>
          <p:cNvSpPr>
            <a:spLocks noGrp="1"/>
          </p:cNvSpPr>
          <p:nvPr/>
        </p:nvSpPr>
        <p:spPr>
          <a:xfrm>
            <a:off x="1390650" y="1666875"/>
            <a:ext cx="487680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Show clear risk levels</a:t>
            </a:r>
          </a:p>
        </p:txBody>
      </p:sp>
      <p:sp>
        <p:nvSpPr>
          <p:cNvPr id="4" name="Classify conditions into five understandable states.">
            <a:extLst>
              <a:ext uri="{FF2B5EF4-FFF2-40B4-BE49-F238E27FC236}">
                <a16:creationId xmlns:a16="http://schemas.microsoft.com/office/drawing/2014/main" id="{26B1DFB0-FD9F-4634-A105-1899E2363BFA}"/>
              </a:ext>
            </a:extLst>
          </p:cNvPr>
          <p:cNvSpPr>
            <a:spLocks noGrp="1"/>
          </p:cNvSpPr>
          <p:nvPr/>
        </p:nvSpPr>
        <p:spPr>
          <a:xfrm>
            <a:off x="1390650" y="2095500"/>
            <a:ext cx="4781550" cy="619125"/>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a:solidFill>
                  <a:srgbClr val="C6D4DB"/>
                </a:solidFill>
                <a:latin typeface="DejaVu Sans"/>
                <a:ea typeface="DejaVu Sans"/>
                <a:cs typeface="DejaVu Sans"/>
              </a:rPr>
              <a:t>Classify conditions into five understandable states.</a:t>
            </a:r>
          </a:p>
        </p:txBody>
      </p:sp>
      <p:sp>
        <p:nvSpPr>
          <p:cNvPr id="5" name="02">
            <a:extLst>
              <a:ext uri="{FF2B5EF4-FFF2-40B4-BE49-F238E27FC236}">
                <a16:creationId xmlns:a16="http://schemas.microsoft.com/office/drawing/2014/main" id="{7B187CE0-FD44-4384-86D7-EE7CE25FD0FB}"/>
              </a:ext>
            </a:extLst>
          </p:cNvPr>
          <p:cNvSpPr>
            <a:spLocks noGrp="1"/>
          </p:cNvSpPr>
          <p:nvPr/>
        </p:nvSpPr>
        <p:spPr>
          <a:xfrm>
            <a:off x="609600" y="2743200"/>
            <a:ext cx="552450"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02</a:t>
            </a:r>
          </a:p>
        </p:txBody>
      </p:sp>
      <p:sp>
        <p:nvSpPr>
          <p:cNvPr id="6" name="Accept reliable inputs">
            <a:extLst>
              <a:ext uri="{FF2B5EF4-FFF2-40B4-BE49-F238E27FC236}">
                <a16:creationId xmlns:a16="http://schemas.microsoft.com/office/drawing/2014/main" id="{A0F85C18-FBE0-416B-8D04-92785D6E1AB8}"/>
              </a:ext>
            </a:extLst>
          </p:cNvPr>
          <p:cNvSpPr>
            <a:spLocks noGrp="1"/>
          </p:cNvSpPr>
          <p:nvPr/>
        </p:nvSpPr>
        <p:spPr>
          <a:xfrm>
            <a:off x="1390650" y="2743200"/>
            <a:ext cx="487680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Accept reliable inputs</a:t>
            </a:r>
          </a:p>
        </p:txBody>
      </p:sp>
      <p:sp>
        <p:nvSpPr>
          <p:cNvPr id="7" name="Check weather values and explain invalid entries.">
            <a:extLst>
              <a:ext uri="{FF2B5EF4-FFF2-40B4-BE49-F238E27FC236}">
                <a16:creationId xmlns:a16="http://schemas.microsoft.com/office/drawing/2014/main" id="{1FD32818-45DF-498B-978B-F3674AB5DFB0}"/>
              </a:ext>
            </a:extLst>
          </p:cNvPr>
          <p:cNvSpPr>
            <a:spLocks noGrp="1"/>
          </p:cNvSpPr>
          <p:nvPr/>
        </p:nvSpPr>
        <p:spPr>
          <a:xfrm>
            <a:off x="1390650" y="3171825"/>
            <a:ext cx="4781550" cy="619125"/>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dirty="0">
                <a:solidFill>
                  <a:srgbClr val="C6D4DB"/>
                </a:solidFill>
                <a:latin typeface="DejaVu Sans"/>
                <a:ea typeface="DejaVu Sans"/>
                <a:cs typeface="DejaVu Sans"/>
              </a:rPr>
              <a:t>Check weather values and explain invalid entries.</a:t>
            </a:r>
          </a:p>
        </p:txBody>
      </p:sp>
      <p:sp>
        <p:nvSpPr>
          <p:cNvPr id="8" name="03">
            <a:extLst>
              <a:ext uri="{FF2B5EF4-FFF2-40B4-BE49-F238E27FC236}">
                <a16:creationId xmlns:a16="http://schemas.microsoft.com/office/drawing/2014/main" id="{CADAFC04-06DB-4622-822D-622B4B7767C3}"/>
              </a:ext>
            </a:extLst>
          </p:cNvPr>
          <p:cNvSpPr>
            <a:spLocks noGrp="1"/>
          </p:cNvSpPr>
          <p:nvPr/>
        </p:nvSpPr>
        <p:spPr>
          <a:xfrm>
            <a:off x="609600" y="3819525"/>
            <a:ext cx="552450"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03</a:t>
            </a:r>
          </a:p>
        </p:txBody>
      </p:sp>
      <p:sp>
        <p:nvSpPr>
          <p:cNvPr id="9" name="Compare temperature readings">
            <a:extLst>
              <a:ext uri="{FF2B5EF4-FFF2-40B4-BE49-F238E27FC236}">
                <a16:creationId xmlns:a16="http://schemas.microsoft.com/office/drawing/2014/main" id="{127CCBD8-5ADD-44EF-BE4C-4AA28D38280F}"/>
              </a:ext>
            </a:extLst>
          </p:cNvPr>
          <p:cNvSpPr>
            <a:spLocks noGrp="1"/>
          </p:cNvSpPr>
          <p:nvPr/>
        </p:nvSpPr>
        <p:spPr>
          <a:xfrm>
            <a:off x="1390650" y="3819525"/>
            <a:ext cx="487680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Compare temperature readings</a:t>
            </a:r>
          </a:p>
        </p:txBody>
      </p:sp>
      <p:sp>
        <p:nvSpPr>
          <p:cNvPr id="10" name="Show trends, averages and threshold counts.">
            <a:extLst>
              <a:ext uri="{FF2B5EF4-FFF2-40B4-BE49-F238E27FC236}">
                <a16:creationId xmlns:a16="http://schemas.microsoft.com/office/drawing/2014/main" id="{A63C01FF-6E78-44B4-936D-EBA707FB4004}"/>
              </a:ext>
            </a:extLst>
          </p:cNvPr>
          <p:cNvSpPr>
            <a:spLocks noGrp="1"/>
          </p:cNvSpPr>
          <p:nvPr/>
        </p:nvSpPr>
        <p:spPr>
          <a:xfrm>
            <a:off x="1390650" y="4248150"/>
            <a:ext cx="4781550" cy="619125"/>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a:solidFill>
                  <a:srgbClr val="C6D4DB"/>
                </a:solidFill>
                <a:latin typeface="DejaVu Sans"/>
                <a:ea typeface="DejaVu Sans"/>
                <a:cs typeface="DejaVu Sans"/>
              </a:rPr>
              <a:t>Show trends, averages and threshold counts.</a:t>
            </a:r>
          </a:p>
        </p:txBody>
      </p:sp>
      <p:sp>
        <p:nvSpPr>
          <p:cNvPr id="11" name="04">
            <a:extLst>
              <a:ext uri="{FF2B5EF4-FFF2-40B4-BE49-F238E27FC236}">
                <a16:creationId xmlns:a16="http://schemas.microsoft.com/office/drawing/2014/main" id="{99965FE6-6C39-4FD9-87D6-800E69D5B058}"/>
              </a:ext>
            </a:extLst>
          </p:cNvPr>
          <p:cNvSpPr>
            <a:spLocks noGrp="1"/>
          </p:cNvSpPr>
          <p:nvPr/>
        </p:nvSpPr>
        <p:spPr>
          <a:xfrm>
            <a:off x="609600" y="4895850"/>
            <a:ext cx="552450"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04</a:t>
            </a:r>
          </a:p>
        </p:txBody>
      </p:sp>
      <p:sp>
        <p:nvSpPr>
          <p:cNvPr id="12" name="Keep the site easy to use">
            <a:extLst>
              <a:ext uri="{FF2B5EF4-FFF2-40B4-BE49-F238E27FC236}">
                <a16:creationId xmlns:a16="http://schemas.microsoft.com/office/drawing/2014/main" id="{7B9E9B69-5C10-4534-ADE4-E2E53C841857}"/>
              </a:ext>
            </a:extLst>
          </p:cNvPr>
          <p:cNvSpPr>
            <a:spLocks noGrp="1"/>
          </p:cNvSpPr>
          <p:nvPr/>
        </p:nvSpPr>
        <p:spPr>
          <a:xfrm>
            <a:off x="1390650" y="4895850"/>
            <a:ext cx="487680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Keep the site easy to use</a:t>
            </a:r>
          </a:p>
        </p:txBody>
      </p:sp>
      <p:sp>
        <p:nvSpPr>
          <p:cNvPr id="13" name="Support keyboard access, mobile layouts and offline use.">
            <a:extLst>
              <a:ext uri="{FF2B5EF4-FFF2-40B4-BE49-F238E27FC236}">
                <a16:creationId xmlns:a16="http://schemas.microsoft.com/office/drawing/2014/main" id="{73CCEC8B-CC6F-42DB-A4A3-B07D47769108}"/>
              </a:ext>
            </a:extLst>
          </p:cNvPr>
          <p:cNvSpPr>
            <a:spLocks noGrp="1"/>
          </p:cNvSpPr>
          <p:nvPr/>
        </p:nvSpPr>
        <p:spPr>
          <a:xfrm>
            <a:off x="1390650" y="5324475"/>
            <a:ext cx="4781550" cy="619125"/>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a:solidFill>
                  <a:srgbClr val="C6D4DB"/>
                </a:solidFill>
                <a:latin typeface="DejaVu Sans"/>
                <a:ea typeface="DejaVu Sans"/>
                <a:cs typeface="DejaVu Sans"/>
              </a:rPr>
              <a:t>Support keyboard access, mobile layouts and offline use.</a:t>
            </a:r>
          </a:p>
        </p:txBody>
      </p:sp>
      <p:pic>
        <p:nvPicPr>
          <p:cNvPr id="31" name="Picture 30"/>
          <p:cNvPicPr>
            <a:picLocks noChangeAspect="1"/>
          </p:cNvPicPr>
          <p:nvPr/>
        </p:nvPicPr>
        <p:blipFill>
          <a:blip r:embed="rId3"/>
          <a:srcRect l="14857" r="14857"/>
          <a:stretch>
            <a:fillRect/>
          </a:stretch>
        </p:blipFill>
        <p:spPr>
          <a:xfrm>
            <a:off x="7010400" y="1619250"/>
            <a:ext cx="4572000" cy="4333875"/>
          </a:xfrm>
          <a:prstGeom prst="rect">
            <a:avLst/>
          </a:prstGeom>
        </p:spPr>
      </p:pic>
    </p:spTree>
    <p:extLst>
      <p:ext uri="{BB962C8B-B14F-4D97-AF65-F5344CB8AC3E}">
        <p14:creationId xmlns:p14="http://schemas.microsoft.com/office/powerpoint/2010/main" val="1894056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22" name="Methodology &amp; technologies">
            <a:extLst>
              <a:ext uri="{FF2B5EF4-FFF2-40B4-BE49-F238E27FC236}">
                <a16:creationId xmlns:a16="http://schemas.microsoft.com/office/drawing/2014/main" id="{50BEFEF5-0340-4050-9EF7-164FDC098E94}"/>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FFFFFF"/>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Methodology &amp; technologies</a:t>
            </a:r>
          </a:p>
        </p:txBody>
      </p:sp>
      <p:sp>
        <p:nvSpPr>
          <p:cNvPr id="2" name="01">
            <a:extLst>
              <a:ext uri="{FF2B5EF4-FFF2-40B4-BE49-F238E27FC236}">
                <a16:creationId xmlns:a16="http://schemas.microsoft.com/office/drawing/2014/main" id="{595FA41E-9090-4303-9324-C4C1559D24C5}"/>
              </a:ext>
            </a:extLst>
          </p:cNvPr>
          <p:cNvSpPr>
            <a:spLocks noGrp="1"/>
          </p:cNvSpPr>
          <p:nvPr/>
        </p:nvSpPr>
        <p:spPr>
          <a:xfrm>
            <a:off x="609600" y="1590675"/>
            <a:ext cx="571500" cy="457200"/>
          </a:xfrm>
          <a:prstGeom prst="rect">
            <a:avLst/>
          </a:prstGeom>
          <a:noFill/>
          <a:ln w="0">
            <a:noFill/>
          </a:ln>
        </p:spPr>
        <p:txBody>
          <a:bodyPr wrap="square" lIns="0" tIns="0" rIns="0" bIns="0" anchor="t">
            <a:noAutofit/>
          </a:bodyPr>
          <a:lstStyle/>
          <a:p>
            <a:pPr>
              <a:buNone/>
              <a:defRPr sz="2475" b="1">
                <a:solidFill>
                  <a:srgbClr val="F3AA77"/>
                </a:solidFill>
                <a:latin typeface="DejaVu Sans"/>
                <a:ea typeface="DejaVu Sans"/>
                <a:cs typeface="DejaVu Sans"/>
              </a:defRPr>
            </a:pPr>
            <a:r>
              <a:rPr sz="2475" b="1">
                <a:solidFill>
                  <a:srgbClr val="F3AA77"/>
                </a:solidFill>
                <a:latin typeface="DejaVu Sans"/>
                <a:ea typeface="DejaVu Sans"/>
                <a:cs typeface="DejaVu Sans"/>
              </a:rPr>
              <a:t>01</a:t>
            </a:r>
          </a:p>
        </p:txBody>
      </p:sp>
      <p:sp>
        <p:nvSpPr>
          <p:cNvPr id="3" name="Input">
            <a:extLst>
              <a:ext uri="{FF2B5EF4-FFF2-40B4-BE49-F238E27FC236}">
                <a16:creationId xmlns:a16="http://schemas.microsoft.com/office/drawing/2014/main" id="{AC20C286-3AEF-4117-8C67-2F6D8A2D1B35}"/>
              </a:ext>
            </a:extLst>
          </p:cNvPr>
          <p:cNvSpPr>
            <a:spLocks noGrp="1"/>
          </p:cNvSpPr>
          <p:nvPr/>
        </p:nvSpPr>
        <p:spPr>
          <a:xfrm>
            <a:off x="1371600" y="1590675"/>
            <a:ext cx="4333875" cy="409575"/>
          </a:xfrm>
          <a:prstGeom prst="rect">
            <a:avLst/>
          </a:prstGeom>
          <a:noFill/>
          <a:ln w="0">
            <a:noFill/>
          </a:ln>
        </p:spPr>
        <p:txBody>
          <a:bodyPr wrap="square" lIns="0" tIns="0" rIns="0" bIns="0" anchor="t">
            <a:noAutofit/>
          </a:bodyPr>
          <a:lstStyle/>
          <a:p>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Input</a:t>
            </a:r>
          </a:p>
        </p:txBody>
      </p:sp>
      <p:sp>
        <p:nvSpPr>
          <p:cNvPr id="4" name="Choose a sample location or enter weather values.">
            <a:extLst>
              <a:ext uri="{FF2B5EF4-FFF2-40B4-BE49-F238E27FC236}">
                <a16:creationId xmlns:a16="http://schemas.microsoft.com/office/drawing/2014/main" id="{8D10A90B-CD92-40A9-8F90-343782AC6A1B}"/>
              </a:ext>
            </a:extLst>
          </p:cNvPr>
          <p:cNvSpPr>
            <a:spLocks noGrp="1"/>
          </p:cNvSpPr>
          <p:nvPr/>
        </p:nvSpPr>
        <p:spPr>
          <a:xfrm>
            <a:off x="1371600" y="1990725"/>
            <a:ext cx="4238625" cy="619125"/>
          </a:xfrm>
          <a:prstGeom prst="rect">
            <a:avLst/>
          </a:prstGeom>
          <a:noFill/>
          <a:ln w="0">
            <a:noFill/>
          </a:ln>
        </p:spPr>
        <p:txBody>
          <a:bodyPr wrap="square" lIns="0" tIns="0" rIns="0" bIns="0" anchor="t">
            <a:noAutofit/>
          </a:bodyPr>
          <a:lstStyle/>
          <a:p>
            <a:pPr>
              <a:buNone/>
              <a:defRPr sz="1725" b="0">
                <a:solidFill>
                  <a:srgbClr val="C6D4DB"/>
                </a:solidFill>
                <a:latin typeface="DejaVu Sans"/>
                <a:ea typeface="DejaVu Sans"/>
                <a:cs typeface="DejaVu Sans"/>
              </a:defRPr>
            </a:pPr>
            <a:r>
              <a:rPr sz="1725" b="0">
                <a:solidFill>
                  <a:srgbClr val="C6D4DB"/>
                </a:solidFill>
                <a:latin typeface="DejaVu Sans"/>
                <a:ea typeface="DejaVu Sans"/>
                <a:cs typeface="DejaVu Sans"/>
              </a:rPr>
              <a:t>Choose a sample location or enter weather values.</a:t>
            </a:r>
          </a:p>
        </p:txBody>
      </p:sp>
      <p:sp>
        <p:nvSpPr>
          <p:cNvPr id="5" name="02">
            <a:extLst>
              <a:ext uri="{FF2B5EF4-FFF2-40B4-BE49-F238E27FC236}">
                <a16:creationId xmlns:a16="http://schemas.microsoft.com/office/drawing/2014/main" id="{C5EBC735-4DAA-4C10-B21C-E9B2DE77448C}"/>
              </a:ext>
            </a:extLst>
          </p:cNvPr>
          <p:cNvSpPr>
            <a:spLocks noGrp="1"/>
          </p:cNvSpPr>
          <p:nvPr/>
        </p:nvSpPr>
        <p:spPr>
          <a:xfrm>
            <a:off x="609600" y="2647950"/>
            <a:ext cx="571500" cy="457200"/>
          </a:xfrm>
          <a:prstGeom prst="rect">
            <a:avLst/>
          </a:prstGeom>
          <a:noFill/>
          <a:ln w="0">
            <a:noFill/>
          </a:ln>
        </p:spPr>
        <p:txBody>
          <a:bodyPr wrap="square" lIns="0" tIns="0" rIns="0" bIns="0" anchor="t">
            <a:noAutofit/>
          </a:bodyPr>
          <a:lstStyle/>
          <a:p>
            <a:pPr>
              <a:buNone/>
              <a:defRPr sz="2475" b="1">
                <a:solidFill>
                  <a:srgbClr val="F3AA77"/>
                </a:solidFill>
                <a:latin typeface="DejaVu Sans"/>
                <a:ea typeface="DejaVu Sans"/>
                <a:cs typeface="DejaVu Sans"/>
              </a:defRPr>
            </a:pPr>
            <a:r>
              <a:rPr sz="2475" b="1">
                <a:solidFill>
                  <a:srgbClr val="F3AA77"/>
                </a:solidFill>
                <a:latin typeface="DejaVu Sans"/>
                <a:ea typeface="DejaVu Sans"/>
                <a:cs typeface="DejaVu Sans"/>
              </a:rPr>
              <a:t>02</a:t>
            </a:r>
          </a:p>
        </p:txBody>
      </p:sp>
      <p:sp>
        <p:nvSpPr>
          <p:cNvPr id="6" name="Validate">
            <a:extLst>
              <a:ext uri="{FF2B5EF4-FFF2-40B4-BE49-F238E27FC236}">
                <a16:creationId xmlns:a16="http://schemas.microsoft.com/office/drawing/2014/main" id="{F746A479-78E7-4CA7-B844-DC8B5CE10BC8}"/>
              </a:ext>
            </a:extLst>
          </p:cNvPr>
          <p:cNvSpPr>
            <a:spLocks noGrp="1"/>
          </p:cNvSpPr>
          <p:nvPr/>
        </p:nvSpPr>
        <p:spPr>
          <a:xfrm>
            <a:off x="1371600" y="2647950"/>
            <a:ext cx="4333875" cy="409575"/>
          </a:xfrm>
          <a:prstGeom prst="rect">
            <a:avLst/>
          </a:prstGeom>
          <a:noFill/>
          <a:ln w="0">
            <a:noFill/>
          </a:ln>
        </p:spPr>
        <p:txBody>
          <a:bodyPr wrap="square" lIns="0" tIns="0" rIns="0" bIns="0" anchor="t">
            <a:noAutofit/>
          </a:bodyPr>
          <a:lstStyle/>
          <a:p>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Validate</a:t>
            </a:r>
          </a:p>
        </p:txBody>
      </p:sp>
      <p:sp>
        <p:nvSpPr>
          <p:cNvPr id="7" name="Check required fields, formats, ranges and dates.">
            <a:extLst>
              <a:ext uri="{FF2B5EF4-FFF2-40B4-BE49-F238E27FC236}">
                <a16:creationId xmlns:a16="http://schemas.microsoft.com/office/drawing/2014/main" id="{D0E6B552-436E-49A5-83A6-FC1D241221F7}"/>
              </a:ext>
            </a:extLst>
          </p:cNvPr>
          <p:cNvSpPr>
            <a:spLocks noGrp="1"/>
          </p:cNvSpPr>
          <p:nvPr/>
        </p:nvSpPr>
        <p:spPr>
          <a:xfrm>
            <a:off x="1371600" y="3048000"/>
            <a:ext cx="4238625" cy="619125"/>
          </a:xfrm>
          <a:prstGeom prst="rect">
            <a:avLst/>
          </a:prstGeom>
          <a:noFill/>
          <a:ln w="0">
            <a:noFill/>
          </a:ln>
        </p:spPr>
        <p:txBody>
          <a:bodyPr wrap="square" lIns="0" tIns="0" rIns="0" bIns="0" anchor="t">
            <a:noAutofit/>
          </a:bodyPr>
          <a:lstStyle/>
          <a:p>
            <a:pPr>
              <a:buNone/>
              <a:defRPr sz="1725" b="0">
                <a:solidFill>
                  <a:srgbClr val="C6D4DB"/>
                </a:solidFill>
                <a:latin typeface="DejaVu Sans"/>
                <a:ea typeface="DejaVu Sans"/>
                <a:cs typeface="DejaVu Sans"/>
              </a:defRPr>
            </a:pPr>
            <a:r>
              <a:rPr sz="1725" b="0" dirty="0">
                <a:solidFill>
                  <a:srgbClr val="C6D4DB"/>
                </a:solidFill>
                <a:latin typeface="DejaVu Sans"/>
                <a:ea typeface="DejaVu Sans"/>
                <a:cs typeface="DejaVu Sans"/>
              </a:rPr>
              <a:t>Check required fields, formats, ranges and dates.</a:t>
            </a:r>
          </a:p>
        </p:txBody>
      </p:sp>
      <p:sp>
        <p:nvSpPr>
          <p:cNvPr id="8" name="03">
            <a:extLst>
              <a:ext uri="{FF2B5EF4-FFF2-40B4-BE49-F238E27FC236}">
                <a16:creationId xmlns:a16="http://schemas.microsoft.com/office/drawing/2014/main" id="{0CB6FBA0-A9D9-4027-9A9A-1FE0E19B48FA}"/>
              </a:ext>
            </a:extLst>
          </p:cNvPr>
          <p:cNvSpPr>
            <a:spLocks noGrp="1"/>
          </p:cNvSpPr>
          <p:nvPr/>
        </p:nvSpPr>
        <p:spPr>
          <a:xfrm>
            <a:off x="609600" y="3705225"/>
            <a:ext cx="571500" cy="457200"/>
          </a:xfrm>
          <a:prstGeom prst="rect">
            <a:avLst/>
          </a:prstGeom>
          <a:noFill/>
          <a:ln w="0">
            <a:noFill/>
          </a:ln>
        </p:spPr>
        <p:txBody>
          <a:bodyPr wrap="square" lIns="0" tIns="0" rIns="0" bIns="0" anchor="t">
            <a:noAutofit/>
          </a:bodyPr>
          <a:lstStyle/>
          <a:p>
            <a:pPr>
              <a:buNone/>
              <a:defRPr sz="2475" b="1">
                <a:solidFill>
                  <a:srgbClr val="F3AA77"/>
                </a:solidFill>
                <a:latin typeface="DejaVu Sans"/>
                <a:ea typeface="DejaVu Sans"/>
                <a:cs typeface="DejaVu Sans"/>
              </a:defRPr>
            </a:pPr>
            <a:r>
              <a:rPr sz="2475" b="1">
                <a:solidFill>
                  <a:srgbClr val="F3AA77"/>
                </a:solidFill>
                <a:latin typeface="DejaVu Sans"/>
                <a:ea typeface="DejaVu Sans"/>
                <a:cs typeface="DejaVu Sans"/>
              </a:rPr>
              <a:t>03</a:t>
            </a:r>
          </a:p>
        </p:txBody>
      </p:sp>
      <p:sp>
        <p:nvSpPr>
          <p:cNvPr id="9" name="Calculate">
            <a:extLst>
              <a:ext uri="{FF2B5EF4-FFF2-40B4-BE49-F238E27FC236}">
                <a16:creationId xmlns:a16="http://schemas.microsoft.com/office/drawing/2014/main" id="{412B0176-DEB6-4A7E-815A-66F3136C14B8}"/>
              </a:ext>
            </a:extLst>
          </p:cNvPr>
          <p:cNvSpPr>
            <a:spLocks noGrp="1"/>
          </p:cNvSpPr>
          <p:nvPr/>
        </p:nvSpPr>
        <p:spPr>
          <a:xfrm>
            <a:off x="1371600" y="3705225"/>
            <a:ext cx="4333875" cy="409575"/>
          </a:xfrm>
          <a:prstGeom prst="rect">
            <a:avLst/>
          </a:prstGeom>
          <a:noFill/>
          <a:ln w="0">
            <a:noFill/>
          </a:ln>
        </p:spPr>
        <p:txBody>
          <a:bodyPr wrap="square" lIns="0" tIns="0" rIns="0" bIns="0" anchor="t">
            <a:noAutofit/>
          </a:bodyPr>
          <a:lstStyle/>
          <a:p>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Calculate</a:t>
            </a:r>
          </a:p>
        </p:txBody>
      </p:sp>
      <p:sp>
        <p:nvSpPr>
          <p:cNvPr id="10" name="Apply risk rules and analyze the readings array.">
            <a:extLst>
              <a:ext uri="{FF2B5EF4-FFF2-40B4-BE49-F238E27FC236}">
                <a16:creationId xmlns:a16="http://schemas.microsoft.com/office/drawing/2014/main" id="{B9991720-A624-42D1-849A-3502ADFD02BD}"/>
              </a:ext>
            </a:extLst>
          </p:cNvPr>
          <p:cNvSpPr>
            <a:spLocks noGrp="1"/>
          </p:cNvSpPr>
          <p:nvPr/>
        </p:nvSpPr>
        <p:spPr>
          <a:xfrm>
            <a:off x="1371600" y="4105275"/>
            <a:ext cx="4238625" cy="619125"/>
          </a:xfrm>
          <a:prstGeom prst="rect">
            <a:avLst/>
          </a:prstGeom>
          <a:noFill/>
          <a:ln w="0">
            <a:noFill/>
          </a:ln>
        </p:spPr>
        <p:txBody>
          <a:bodyPr wrap="square" lIns="0" tIns="0" rIns="0" bIns="0" anchor="t">
            <a:noAutofit/>
          </a:bodyPr>
          <a:lstStyle/>
          <a:p>
            <a:pPr>
              <a:buNone/>
              <a:defRPr sz="1725" b="0">
                <a:solidFill>
                  <a:srgbClr val="C6D4DB"/>
                </a:solidFill>
                <a:latin typeface="DejaVu Sans"/>
                <a:ea typeface="DejaVu Sans"/>
                <a:cs typeface="DejaVu Sans"/>
              </a:defRPr>
            </a:pPr>
            <a:r>
              <a:rPr sz="1725" b="0">
                <a:solidFill>
                  <a:srgbClr val="C6D4DB"/>
                </a:solidFill>
                <a:latin typeface="DejaVu Sans"/>
                <a:ea typeface="DejaVu Sans"/>
                <a:cs typeface="DejaVu Sans"/>
              </a:rPr>
              <a:t>Apply risk rules and analyze the readings array.</a:t>
            </a:r>
          </a:p>
        </p:txBody>
      </p:sp>
      <p:sp>
        <p:nvSpPr>
          <p:cNvPr id="11" name="04">
            <a:extLst>
              <a:ext uri="{FF2B5EF4-FFF2-40B4-BE49-F238E27FC236}">
                <a16:creationId xmlns:a16="http://schemas.microsoft.com/office/drawing/2014/main" id="{16A07A3B-BE37-43FF-BDD0-B0FC8C8AB0DA}"/>
              </a:ext>
            </a:extLst>
          </p:cNvPr>
          <p:cNvSpPr>
            <a:spLocks noGrp="1"/>
          </p:cNvSpPr>
          <p:nvPr/>
        </p:nvSpPr>
        <p:spPr>
          <a:xfrm>
            <a:off x="609600" y="4762500"/>
            <a:ext cx="571500" cy="457200"/>
          </a:xfrm>
          <a:prstGeom prst="rect">
            <a:avLst/>
          </a:prstGeom>
          <a:noFill/>
          <a:ln w="0">
            <a:noFill/>
          </a:ln>
        </p:spPr>
        <p:txBody>
          <a:bodyPr wrap="square" lIns="0" tIns="0" rIns="0" bIns="0" anchor="t">
            <a:noAutofit/>
          </a:bodyPr>
          <a:lstStyle/>
          <a:p>
            <a:pPr>
              <a:buNone/>
              <a:defRPr sz="2475" b="1">
                <a:solidFill>
                  <a:srgbClr val="F3AA77"/>
                </a:solidFill>
                <a:latin typeface="DejaVu Sans"/>
                <a:ea typeface="DejaVu Sans"/>
                <a:cs typeface="DejaVu Sans"/>
              </a:defRPr>
            </a:pPr>
            <a:r>
              <a:rPr sz="2475" b="1">
                <a:solidFill>
                  <a:srgbClr val="F3AA77"/>
                </a:solidFill>
                <a:latin typeface="DejaVu Sans"/>
                <a:ea typeface="DejaVu Sans"/>
                <a:cs typeface="DejaVu Sans"/>
              </a:rPr>
              <a:t>04</a:t>
            </a:r>
          </a:p>
        </p:txBody>
      </p:sp>
      <p:sp>
        <p:nvSpPr>
          <p:cNvPr id="12" name="Update">
            <a:extLst>
              <a:ext uri="{FF2B5EF4-FFF2-40B4-BE49-F238E27FC236}">
                <a16:creationId xmlns:a16="http://schemas.microsoft.com/office/drawing/2014/main" id="{E2B8B86D-4B40-488E-AB10-01C3E9F05EB5}"/>
              </a:ext>
            </a:extLst>
          </p:cNvPr>
          <p:cNvSpPr>
            <a:spLocks noGrp="1"/>
          </p:cNvSpPr>
          <p:nvPr/>
        </p:nvSpPr>
        <p:spPr>
          <a:xfrm>
            <a:off x="1371600" y="4762500"/>
            <a:ext cx="4333875" cy="409575"/>
          </a:xfrm>
          <a:prstGeom prst="rect">
            <a:avLst/>
          </a:prstGeom>
          <a:noFill/>
          <a:ln w="0">
            <a:noFill/>
          </a:ln>
        </p:spPr>
        <p:txBody>
          <a:bodyPr wrap="square" lIns="0" tIns="0" rIns="0" bIns="0" anchor="t">
            <a:noAutofit/>
          </a:bodyPr>
          <a:lstStyle/>
          <a:p>
            <a:pPr>
              <a:buNone/>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Update</a:t>
            </a:r>
          </a:p>
        </p:txBody>
      </p:sp>
      <p:sp>
        <p:nvSpPr>
          <p:cNvPr id="13" name="Refresh the dashboard, advice and table through the DOM.">
            <a:extLst>
              <a:ext uri="{FF2B5EF4-FFF2-40B4-BE49-F238E27FC236}">
                <a16:creationId xmlns:a16="http://schemas.microsoft.com/office/drawing/2014/main" id="{A213C5C9-DD62-4159-A7E7-E95CC9E0A325}"/>
              </a:ext>
            </a:extLst>
          </p:cNvPr>
          <p:cNvSpPr>
            <a:spLocks noGrp="1"/>
          </p:cNvSpPr>
          <p:nvPr/>
        </p:nvSpPr>
        <p:spPr>
          <a:xfrm>
            <a:off x="1371600" y="5162550"/>
            <a:ext cx="4238625" cy="619125"/>
          </a:xfrm>
          <a:prstGeom prst="rect">
            <a:avLst/>
          </a:prstGeom>
          <a:noFill/>
          <a:ln w="0">
            <a:noFill/>
          </a:ln>
        </p:spPr>
        <p:txBody>
          <a:bodyPr wrap="square" lIns="0" tIns="0" rIns="0" bIns="0" anchor="t">
            <a:noAutofit/>
          </a:bodyPr>
          <a:lstStyle/>
          <a:p>
            <a:pPr>
              <a:buNone/>
              <a:defRPr sz="1725" b="0">
                <a:solidFill>
                  <a:srgbClr val="C6D4DB"/>
                </a:solidFill>
                <a:latin typeface="DejaVu Sans"/>
                <a:ea typeface="DejaVu Sans"/>
                <a:cs typeface="DejaVu Sans"/>
              </a:defRPr>
            </a:pPr>
            <a:r>
              <a:rPr sz="1725" b="0">
                <a:solidFill>
                  <a:srgbClr val="C6D4DB"/>
                </a:solidFill>
                <a:latin typeface="DejaVu Sans"/>
                <a:ea typeface="DejaVu Sans"/>
                <a:cs typeface="DejaVu Sans"/>
              </a:rPr>
              <a:t>Refresh the dashboard, advice and table through the DOM.</a:t>
            </a:r>
          </a:p>
        </p:txBody>
      </p:sp>
      <p:sp>
        <p:nvSpPr>
          <p:cNvPr id="14" name="HTML5">
            <a:extLst>
              <a:ext uri="{FF2B5EF4-FFF2-40B4-BE49-F238E27FC236}">
                <a16:creationId xmlns:a16="http://schemas.microsoft.com/office/drawing/2014/main" id="{2BF47200-211A-4233-9714-192299B60C0C}"/>
              </a:ext>
            </a:extLst>
          </p:cNvPr>
          <p:cNvSpPr>
            <a:spLocks noGrp="1"/>
          </p:cNvSpPr>
          <p:nvPr/>
        </p:nvSpPr>
        <p:spPr>
          <a:xfrm>
            <a:off x="6924675" y="1666875"/>
            <a:ext cx="4657725" cy="428625"/>
          </a:xfrm>
          <a:prstGeom prst="rect">
            <a:avLst/>
          </a:prstGeom>
          <a:noFill/>
          <a:ln w="0">
            <a:noFill/>
          </a:ln>
        </p:spPr>
        <p:txBody>
          <a:bodyPr wrap="square" lIns="0" tIns="0" rIns="0" bIns="0" anchor="t">
            <a:noAutofit/>
          </a:bodyPr>
          <a:lstStyle/>
          <a:p>
            <a:pPr>
              <a:buNone/>
              <a:defRPr sz="2550" b="1">
                <a:solidFill>
                  <a:srgbClr val="F3AA77"/>
                </a:solidFill>
                <a:latin typeface="DejaVu Sans"/>
                <a:ea typeface="DejaVu Sans"/>
                <a:cs typeface="DejaVu Sans"/>
              </a:defRPr>
            </a:pPr>
            <a:r>
              <a:rPr sz="2550" b="1">
                <a:solidFill>
                  <a:srgbClr val="F3AA77"/>
                </a:solidFill>
                <a:latin typeface="DejaVu Sans"/>
                <a:ea typeface="DejaVu Sans"/>
                <a:cs typeface="DejaVu Sans"/>
              </a:rPr>
              <a:t>HTML5</a:t>
            </a:r>
          </a:p>
        </p:txBody>
      </p:sp>
      <p:sp>
        <p:nvSpPr>
          <p:cNvPr id="15" name="Semantic sections, forms, tables and media">
            <a:extLst>
              <a:ext uri="{FF2B5EF4-FFF2-40B4-BE49-F238E27FC236}">
                <a16:creationId xmlns:a16="http://schemas.microsoft.com/office/drawing/2014/main" id="{D2A18AB4-CF70-4BC5-8948-7CB701983E79}"/>
              </a:ext>
            </a:extLst>
          </p:cNvPr>
          <p:cNvSpPr>
            <a:spLocks noGrp="1"/>
          </p:cNvSpPr>
          <p:nvPr/>
        </p:nvSpPr>
        <p:spPr>
          <a:xfrm>
            <a:off x="6924675" y="2152650"/>
            <a:ext cx="4324350" cy="685800"/>
          </a:xfrm>
          <a:prstGeom prst="rect">
            <a:avLst/>
          </a:prstGeom>
          <a:noFill/>
          <a:ln w="0">
            <a:noFill/>
          </a:ln>
        </p:spPr>
        <p:txBody>
          <a:bodyPr wrap="square" lIns="0" tIns="0" rIns="0" bIns="0" anchor="t">
            <a:noAutofit/>
          </a:bodyPr>
          <a:lstStyle/>
          <a:p>
            <a:pPr>
              <a:buNone/>
              <a:defRPr sz="1800" b="0">
                <a:solidFill>
                  <a:srgbClr val="C6D4DB"/>
                </a:solidFill>
                <a:latin typeface="DejaVu Sans"/>
                <a:ea typeface="DejaVu Sans"/>
                <a:cs typeface="DejaVu Sans"/>
              </a:defRPr>
            </a:pPr>
            <a:r>
              <a:rPr sz="1800" b="0">
                <a:solidFill>
                  <a:srgbClr val="C6D4DB"/>
                </a:solidFill>
                <a:latin typeface="DejaVu Sans"/>
                <a:ea typeface="DejaVu Sans"/>
                <a:cs typeface="DejaVu Sans"/>
              </a:rPr>
              <a:t>Semantic sections, forms, tables and media</a:t>
            </a:r>
          </a:p>
        </p:txBody>
      </p:sp>
      <p:sp>
        <p:nvSpPr>
          <p:cNvPr id="16" name="CSS3 + Bootstrap grid">
            <a:extLst>
              <a:ext uri="{FF2B5EF4-FFF2-40B4-BE49-F238E27FC236}">
                <a16:creationId xmlns:a16="http://schemas.microsoft.com/office/drawing/2014/main" id="{C36D1D5C-654F-4CD3-BB5E-55FDDCB08DFD}"/>
              </a:ext>
            </a:extLst>
          </p:cNvPr>
          <p:cNvSpPr>
            <a:spLocks noGrp="1"/>
          </p:cNvSpPr>
          <p:nvPr/>
        </p:nvSpPr>
        <p:spPr>
          <a:xfrm>
            <a:off x="6924675" y="3086100"/>
            <a:ext cx="4657725" cy="447675"/>
          </a:xfrm>
          <a:prstGeom prst="rect">
            <a:avLst/>
          </a:prstGeom>
          <a:noFill/>
          <a:ln w="0">
            <a:noFill/>
          </a:ln>
        </p:spPr>
        <p:txBody>
          <a:bodyPr wrap="square" lIns="0" tIns="0" rIns="0" bIns="0" anchor="t">
            <a:noAutofit/>
          </a:bodyPr>
          <a:lstStyle/>
          <a:p>
            <a:pPr>
              <a:buNone/>
              <a:defRPr sz="2325" b="1">
                <a:solidFill>
                  <a:srgbClr val="F3AA77"/>
                </a:solidFill>
                <a:latin typeface="DejaVu Sans"/>
                <a:ea typeface="DejaVu Sans"/>
                <a:cs typeface="DejaVu Sans"/>
              </a:defRPr>
            </a:pPr>
            <a:r>
              <a:rPr sz="2325" b="1">
                <a:solidFill>
                  <a:srgbClr val="F3AA77"/>
                </a:solidFill>
                <a:latin typeface="DejaVu Sans"/>
                <a:ea typeface="DejaVu Sans"/>
                <a:cs typeface="DejaVu Sans"/>
              </a:rPr>
              <a:t>CSS3 + Bootstrap grid</a:t>
            </a:r>
          </a:p>
        </p:txBody>
      </p:sp>
      <p:sp>
        <p:nvSpPr>
          <p:cNvPr id="17" name="Responsive layout, focus styles and visual effects">
            <a:extLst>
              <a:ext uri="{FF2B5EF4-FFF2-40B4-BE49-F238E27FC236}">
                <a16:creationId xmlns:a16="http://schemas.microsoft.com/office/drawing/2014/main" id="{462C6E24-129F-4AC8-9ED2-B12FFC9B491B}"/>
              </a:ext>
            </a:extLst>
          </p:cNvPr>
          <p:cNvSpPr>
            <a:spLocks noGrp="1"/>
          </p:cNvSpPr>
          <p:nvPr/>
        </p:nvSpPr>
        <p:spPr>
          <a:xfrm>
            <a:off x="6924675" y="3562350"/>
            <a:ext cx="4371975" cy="704850"/>
          </a:xfrm>
          <a:prstGeom prst="rect">
            <a:avLst/>
          </a:prstGeom>
          <a:noFill/>
          <a:ln w="0">
            <a:noFill/>
          </a:ln>
        </p:spPr>
        <p:txBody>
          <a:bodyPr wrap="square" lIns="0" tIns="0" rIns="0" bIns="0" anchor="t">
            <a:noAutofit/>
          </a:bodyPr>
          <a:lstStyle/>
          <a:p>
            <a:pPr>
              <a:buNone/>
              <a:defRPr sz="1800" b="0">
                <a:solidFill>
                  <a:srgbClr val="C6D4DB"/>
                </a:solidFill>
                <a:latin typeface="DejaVu Sans"/>
                <a:ea typeface="DejaVu Sans"/>
                <a:cs typeface="DejaVu Sans"/>
              </a:defRPr>
            </a:pPr>
            <a:r>
              <a:rPr sz="1800" b="0">
                <a:solidFill>
                  <a:srgbClr val="C6D4DB"/>
                </a:solidFill>
                <a:latin typeface="DejaVu Sans"/>
                <a:ea typeface="DejaVu Sans"/>
                <a:cs typeface="DejaVu Sans"/>
              </a:rPr>
              <a:t>Responsive layout, focus styles and visual effects</a:t>
            </a:r>
          </a:p>
        </p:txBody>
      </p:sp>
      <p:sp>
        <p:nvSpPr>
          <p:cNvPr id="18" name="Vanilla JavaScript">
            <a:extLst>
              <a:ext uri="{FF2B5EF4-FFF2-40B4-BE49-F238E27FC236}">
                <a16:creationId xmlns:a16="http://schemas.microsoft.com/office/drawing/2014/main" id="{C5B367DC-87BD-48EE-B4C8-8F035611709D}"/>
              </a:ext>
            </a:extLst>
          </p:cNvPr>
          <p:cNvSpPr>
            <a:spLocks noGrp="1"/>
          </p:cNvSpPr>
          <p:nvPr/>
        </p:nvSpPr>
        <p:spPr>
          <a:xfrm>
            <a:off x="6924675" y="4514850"/>
            <a:ext cx="4657725" cy="457200"/>
          </a:xfrm>
          <a:prstGeom prst="rect">
            <a:avLst/>
          </a:prstGeom>
          <a:noFill/>
          <a:ln w="0">
            <a:noFill/>
          </a:ln>
        </p:spPr>
        <p:txBody>
          <a:bodyPr wrap="square" lIns="0" tIns="0" rIns="0" bIns="0" anchor="t">
            <a:noAutofit/>
          </a:bodyPr>
          <a:lstStyle/>
          <a:p>
            <a:pPr>
              <a:buNone/>
              <a:defRPr sz="2400" b="1">
                <a:solidFill>
                  <a:srgbClr val="F3AA77"/>
                </a:solidFill>
                <a:latin typeface="DejaVu Sans"/>
                <a:ea typeface="DejaVu Sans"/>
                <a:cs typeface="DejaVu Sans"/>
              </a:defRPr>
            </a:pPr>
            <a:r>
              <a:rPr sz="2400" b="1">
                <a:solidFill>
                  <a:srgbClr val="F3AA77"/>
                </a:solidFill>
                <a:latin typeface="DejaVu Sans"/>
                <a:ea typeface="DejaVu Sans"/>
                <a:cs typeface="DejaVu Sans"/>
              </a:rPr>
              <a:t>Vanilla JavaScript</a:t>
            </a:r>
          </a:p>
        </p:txBody>
      </p:sp>
      <p:sp>
        <p:nvSpPr>
          <p:cNvPr id="19" name="Objects, arrays, regular expressions and events">
            <a:extLst>
              <a:ext uri="{FF2B5EF4-FFF2-40B4-BE49-F238E27FC236}">
                <a16:creationId xmlns:a16="http://schemas.microsoft.com/office/drawing/2014/main" id="{28EBDD47-593C-493A-99F3-5A86B4C10560}"/>
              </a:ext>
            </a:extLst>
          </p:cNvPr>
          <p:cNvSpPr>
            <a:spLocks noGrp="1"/>
          </p:cNvSpPr>
          <p:nvPr/>
        </p:nvSpPr>
        <p:spPr>
          <a:xfrm>
            <a:off x="6924675" y="5000625"/>
            <a:ext cx="4371975" cy="704850"/>
          </a:xfrm>
          <a:prstGeom prst="rect">
            <a:avLst/>
          </a:prstGeom>
          <a:noFill/>
          <a:ln w="0">
            <a:noFill/>
          </a:ln>
        </p:spPr>
        <p:txBody>
          <a:bodyPr wrap="square" lIns="0" tIns="0" rIns="0" bIns="0" anchor="t">
            <a:noAutofit/>
          </a:bodyPr>
          <a:lstStyle/>
          <a:p>
            <a:pPr>
              <a:buNone/>
              <a:defRPr sz="1800" b="0">
                <a:solidFill>
                  <a:srgbClr val="C6D4DB"/>
                </a:solidFill>
                <a:latin typeface="DejaVu Sans"/>
                <a:ea typeface="DejaVu Sans"/>
                <a:cs typeface="DejaVu Sans"/>
              </a:defRPr>
            </a:pPr>
            <a:r>
              <a:rPr sz="1800" b="0">
                <a:solidFill>
                  <a:srgbClr val="C6D4DB"/>
                </a:solidFill>
                <a:latin typeface="DejaVu Sans"/>
                <a:ea typeface="DejaVu Sans"/>
                <a:cs typeface="DejaVu Sans"/>
              </a:rPr>
              <a:t>Objects, arrays, regular expressions and events</a:t>
            </a:r>
          </a:p>
        </p:txBody>
      </p:sp>
      <p:sp>
        <p:nvSpPr>
          <p:cNvPr id="20" name="All processing runs in the browser. No API key or server is ">
            <a:extLst>
              <a:ext uri="{FF2B5EF4-FFF2-40B4-BE49-F238E27FC236}">
                <a16:creationId xmlns:a16="http://schemas.microsoft.com/office/drawing/2014/main" id="{2EF86948-E8FB-46D2-B76C-1CCEBBDB03CC}"/>
              </a:ext>
            </a:extLst>
          </p:cNvPr>
          <p:cNvSpPr>
            <a:spLocks noGrp="1"/>
          </p:cNvSpPr>
          <p:nvPr/>
        </p:nvSpPr>
        <p:spPr>
          <a:xfrm>
            <a:off x="609600" y="6257925"/>
            <a:ext cx="10096500" cy="342900"/>
          </a:xfrm>
          <a:prstGeom prst="rect">
            <a:avLst/>
          </a:prstGeom>
          <a:noFill/>
          <a:ln w="0">
            <a:noFill/>
          </a:ln>
        </p:spPr>
        <p:txBody>
          <a:bodyPr wrap="square" lIns="0" tIns="0" rIns="0" bIns="0" anchor="t">
            <a:noAutofit/>
          </a:bodyPr>
          <a:lstStyle/>
          <a:p>
            <a:pPr>
              <a:buNone/>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All processing runs in the browser. No API key or server is required.</a:t>
            </a:r>
          </a:p>
        </p:txBody>
      </p:sp>
      <p:sp>
        <p:nvSpPr>
          <p:cNvPr id="21" name="04">
            <a:extLst>
              <a:ext uri="{FF2B5EF4-FFF2-40B4-BE49-F238E27FC236}">
                <a16:creationId xmlns:a16="http://schemas.microsoft.com/office/drawing/2014/main" id="{5A50E6BF-D685-43F6-95FB-784BA02D44F3}"/>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C6D4DB"/>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29458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7" name="Heat-risk decision logic">
            <a:extLst>
              <a:ext uri="{FF2B5EF4-FFF2-40B4-BE49-F238E27FC236}">
                <a16:creationId xmlns:a16="http://schemas.microsoft.com/office/drawing/2014/main" id="{99A453B9-FCEE-4829-96BB-A8E947A47BF6}"/>
              </a:ext>
            </a:extLst>
          </p:cNvPr>
          <p:cNvSpPr>
            <a:spLocks noGrp="1"/>
          </p:cNvSpPr>
          <p:nvPr/>
        </p:nvSpPr>
        <p:spPr>
          <a:xfrm>
            <a:off x="609600" y="476643"/>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Heat-risk decision logic</a:t>
            </a:r>
          </a:p>
        </p:txBody>
      </p:sp>
      <p:sp>
        <p:nvSpPr>
          <p:cNvPr id="2" name="Rules run from top to bottom. The first matching condition s">
            <a:extLst>
              <a:ext uri="{FF2B5EF4-FFF2-40B4-BE49-F238E27FC236}">
                <a16:creationId xmlns:a16="http://schemas.microsoft.com/office/drawing/2014/main" id="{AA269B12-0196-46F3-BD11-D8A46D173D9E}"/>
              </a:ext>
            </a:extLst>
          </p:cNvPr>
          <p:cNvSpPr>
            <a:spLocks noGrp="1"/>
          </p:cNvSpPr>
          <p:nvPr/>
        </p:nvSpPr>
        <p:spPr>
          <a:xfrm>
            <a:off x="609600" y="1314450"/>
            <a:ext cx="10744200" cy="457200"/>
          </a:xfrm>
          <a:prstGeom prst="rect">
            <a:avLst/>
          </a:prstGeom>
          <a:noFill/>
          <a:ln w="0">
            <a:noFill/>
          </a:ln>
        </p:spPr>
        <p:txBody>
          <a:bodyPr wrap="square" lIns="0" tIns="0" rIns="0" bIns="0" anchor="t">
            <a:noAutofit/>
          </a:bodyPr>
          <a:lstStyle/>
          <a:p>
            <a:pPr>
              <a:buNone/>
              <a:defRPr sz="1875" b="0">
                <a:solidFill>
                  <a:srgbClr val="576976"/>
                </a:solidFill>
                <a:latin typeface="DejaVu Sans"/>
                <a:ea typeface="DejaVu Sans"/>
                <a:cs typeface="DejaVu Sans"/>
              </a:defRPr>
            </a:pPr>
            <a:r>
              <a:rPr sz="1875" b="0">
                <a:solidFill>
                  <a:srgbClr val="C6D4DB"/>
                </a:solidFill>
                <a:latin typeface="DejaVu Sans"/>
                <a:ea typeface="DejaVu Sans"/>
                <a:cs typeface="DejaVu Sans"/>
              </a:rPr>
              <a:t>Rules run from top to bottom. The first matching condition sets the category.</a:t>
            </a:r>
          </a:p>
        </p:txBody>
      </p:sp>
      <p:graphicFrame>
        <p:nvGraphicFramePr>
          <p:cNvPr id="11" name="Table 10"/>
          <p:cNvGraphicFramePr/>
          <p:nvPr/>
        </p:nvGraphicFramePr>
        <p:xfrm>
          <a:off x="609600" y="2019300"/>
          <a:ext cx="10972800" cy="3486150"/>
        </p:xfrm>
        <a:graphic>
          <a:graphicData uri="http://schemas.openxmlformats.org/drawingml/2006/table">
            <a:tbl>
              <a:tblPr/>
              <a:tblGrid>
                <a:gridCol w="1009650">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7439025">
                  <a:extLst>
                    <a:ext uri="{9D8B030D-6E8A-4147-A177-3AD203B41FA5}">
                      <a16:colId xmlns:a16="http://schemas.microsoft.com/office/drawing/2014/main" val="20002"/>
                    </a:ext>
                  </a:extLst>
                </a:gridCol>
              </a:tblGrid>
              <a:tr h="581025">
                <a:tc>
                  <a:txBody>
                    <a:bodyPr/>
                    <a:lstStyle/>
                    <a:p>
                      <a:r>
                        <a:rPr sz="1725" b="1">
                          <a:solidFill>
                            <a:srgbClr val="162631"/>
                          </a:solidFill>
                          <a:latin typeface="DejaVu Sans"/>
                          <a:ea typeface="DejaVu Sans"/>
                          <a:cs typeface="DejaVu Sans"/>
                        </a:rPr>
                        <a:t>Order</a:t>
                      </a:r>
                    </a:p>
                  </a:txBody>
                  <a:tcPr anchor="ctr">
                    <a:solidFill>
                      <a:srgbClr val="F3AA77"/>
                    </a:solidFill>
                  </a:tcPr>
                </a:tc>
                <a:tc>
                  <a:txBody>
                    <a:bodyPr/>
                    <a:lstStyle/>
                    <a:p>
                      <a:r>
                        <a:rPr sz="1725" b="1" dirty="0">
                          <a:solidFill>
                            <a:srgbClr val="162631"/>
                          </a:solidFill>
                          <a:latin typeface="DejaVu Sans"/>
                          <a:ea typeface="DejaVu Sans"/>
                          <a:cs typeface="DejaVu Sans"/>
                        </a:rPr>
                        <a:t>Risk level</a:t>
                      </a:r>
                    </a:p>
                  </a:txBody>
                  <a:tcPr anchor="ctr">
                    <a:solidFill>
                      <a:srgbClr val="F3AA77"/>
                    </a:solidFill>
                  </a:tcPr>
                </a:tc>
                <a:tc>
                  <a:txBody>
                    <a:bodyPr/>
                    <a:lstStyle/>
                    <a:p>
                      <a:r>
                        <a:rPr sz="1725" b="1">
                          <a:solidFill>
                            <a:srgbClr val="162631"/>
                          </a:solidFill>
                          <a:latin typeface="DejaVu Sans"/>
                          <a:ea typeface="DejaVu Sans"/>
                          <a:cs typeface="DejaVu Sans"/>
                        </a:rPr>
                        <a:t>Condition</a:t>
                      </a:r>
                    </a:p>
                  </a:txBody>
                  <a:tcPr anchor="ctr">
                    <a:solidFill>
                      <a:srgbClr val="F3AA77"/>
                    </a:solidFill>
                  </a:tcPr>
                </a:tc>
                <a:extLst>
                  <a:ext uri="{0D108BD9-81ED-4DB2-BD59-A6C34878D82A}">
                    <a16:rowId xmlns:a16="http://schemas.microsoft.com/office/drawing/2014/main" val="10000"/>
                  </a:ext>
                </a:extLst>
              </a:tr>
              <a:tr h="581025">
                <a:tc>
                  <a:txBody>
                    <a:bodyPr/>
                    <a:lstStyle/>
                    <a:p>
                      <a:r>
                        <a:rPr sz="1725" b="0">
                          <a:solidFill>
                            <a:srgbClr val="FFFFFF"/>
                          </a:solidFill>
                          <a:latin typeface="DejaVu Sans"/>
                          <a:ea typeface="DejaVu Sans"/>
                          <a:cs typeface="DejaVu Sans"/>
                        </a:rPr>
                        <a:t>1</a:t>
                      </a:r>
                    </a:p>
                  </a:txBody>
                  <a:tcPr anchor="ctr">
                    <a:solidFill>
                      <a:srgbClr val="203744"/>
                    </a:solidFill>
                  </a:tcPr>
                </a:tc>
                <a:tc>
                  <a:txBody>
                    <a:bodyPr/>
                    <a:lstStyle/>
                    <a:p>
                      <a:r>
                        <a:rPr sz="1725" b="1">
                          <a:solidFill>
                            <a:srgbClr val="FFB3A3"/>
                          </a:solidFill>
                          <a:latin typeface="DejaVu Sans"/>
                          <a:ea typeface="DejaVu Sans"/>
                          <a:cs typeface="DejaVu Sans"/>
                        </a:rPr>
                        <a:t>Severe</a:t>
                      </a:r>
                    </a:p>
                  </a:txBody>
                  <a:tcPr anchor="ctr">
                    <a:solidFill>
                      <a:srgbClr val="203744"/>
                    </a:solidFill>
                  </a:tcPr>
                </a:tc>
                <a:tc>
                  <a:txBody>
                    <a:bodyPr/>
                    <a:lstStyle/>
                    <a:p>
                      <a:r>
                        <a:rPr sz="1725" b="0">
                          <a:solidFill>
                            <a:srgbClr val="FFFFFF"/>
                          </a:solidFill>
                          <a:latin typeface="DejaVu Sans"/>
                          <a:ea typeface="DejaVu Sans"/>
                          <a:cs typeface="DejaVu Sans"/>
                        </a:rPr>
                        <a:t>Current temperature ≥ 40°C</a:t>
                      </a:r>
                    </a:p>
                  </a:txBody>
                  <a:tcPr anchor="ctr">
                    <a:solidFill>
                      <a:srgbClr val="203744"/>
                    </a:solidFill>
                  </a:tcPr>
                </a:tc>
                <a:extLst>
                  <a:ext uri="{0D108BD9-81ED-4DB2-BD59-A6C34878D82A}">
                    <a16:rowId xmlns:a16="http://schemas.microsoft.com/office/drawing/2014/main" val="10001"/>
                  </a:ext>
                </a:extLst>
              </a:tr>
              <a:tr h="581025">
                <a:tc>
                  <a:txBody>
                    <a:bodyPr/>
                    <a:lstStyle/>
                    <a:p>
                      <a:r>
                        <a:rPr sz="1725" b="0">
                          <a:solidFill>
                            <a:srgbClr val="FFFFFF"/>
                          </a:solidFill>
                          <a:latin typeface="DejaVu Sans"/>
                          <a:ea typeface="DejaVu Sans"/>
                          <a:cs typeface="DejaVu Sans"/>
                        </a:rPr>
                        <a:t>2</a:t>
                      </a:r>
                    </a:p>
                  </a:txBody>
                  <a:tcPr anchor="ctr">
                    <a:solidFill>
                      <a:srgbClr val="29424F"/>
                    </a:solidFill>
                  </a:tcPr>
                </a:tc>
                <a:tc>
                  <a:txBody>
                    <a:bodyPr/>
                    <a:lstStyle/>
                    <a:p>
                      <a:r>
                        <a:rPr sz="1725" b="1">
                          <a:solidFill>
                            <a:srgbClr val="F3AA77"/>
                          </a:solidFill>
                          <a:latin typeface="DejaVu Sans"/>
                          <a:ea typeface="DejaVu Sans"/>
                          <a:cs typeface="DejaVu Sans"/>
                        </a:rPr>
                        <a:t>High</a:t>
                      </a:r>
                    </a:p>
                  </a:txBody>
                  <a:tcPr anchor="ctr">
                    <a:solidFill>
                      <a:srgbClr val="29424F"/>
                    </a:solidFill>
                  </a:tcPr>
                </a:tc>
                <a:tc>
                  <a:txBody>
                    <a:bodyPr/>
                    <a:lstStyle/>
                    <a:p>
                      <a:r>
                        <a:rPr sz="1725" b="0" dirty="0">
                          <a:solidFill>
                            <a:srgbClr val="FFFFFF"/>
                          </a:solidFill>
                          <a:latin typeface="DejaVu Sans"/>
                          <a:ea typeface="DejaVu Sans"/>
                          <a:cs typeface="DejaVu Sans"/>
                        </a:rPr>
                        <a:t>Current temperature ≥ 38°C and humidity ≥ 60%</a:t>
                      </a:r>
                    </a:p>
                  </a:txBody>
                  <a:tcPr anchor="ctr">
                    <a:solidFill>
                      <a:srgbClr val="29424F"/>
                    </a:solidFill>
                  </a:tcPr>
                </a:tc>
                <a:extLst>
                  <a:ext uri="{0D108BD9-81ED-4DB2-BD59-A6C34878D82A}">
                    <a16:rowId xmlns:a16="http://schemas.microsoft.com/office/drawing/2014/main" val="10002"/>
                  </a:ext>
                </a:extLst>
              </a:tr>
              <a:tr h="581025">
                <a:tc>
                  <a:txBody>
                    <a:bodyPr/>
                    <a:lstStyle/>
                    <a:p>
                      <a:r>
                        <a:rPr sz="1725" b="0">
                          <a:solidFill>
                            <a:srgbClr val="FFFFFF"/>
                          </a:solidFill>
                          <a:latin typeface="DejaVu Sans"/>
                          <a:ea typeface="DejaVu Sans"/>
                          <a:cs typeface="DejaVu Sans"/>
                        </a:rPr>
                        <a:t>3</a:t>
                      </a:r>
                    </a:p>
                  </a:txBody>
                  <a:tcPr anchor="ctr">
                    <a:solidFill>
                      <a:srgbClr val="203744"/>
                    </a:solidFill>
                  </a:tcPr>
                </a:tc>
                <a:tc>
                  <a:txBody>
                    <a:bodyPr/>
                    <a:lstStyle/>
                    <a:p>
                      <a:r>
                        <a:rPr sz="1725" b="1">
                          <a:solidFill>
                            <a:srgbClr val="9BCCED"/>
                          </a:solidFill>
                          <a:latin typeface="DejaVu Sans"/>
                          <a:ea typeface="DejaVu Sans"/>
                          <a:cs typeface="DejaVu Sans"/>
                        </a:rPr>
                        <a:t>Early warning</a:t>
                      </a:r>
                    </a:p>
                  </a:txBody>
                  <a:tcPr anchor="ctr">
                    <a:solidFill>
                      <a:srgbClr val="203744"/>
                    </a:solidFill>
                  </a:tcPr>
                </a:tc>
                <a:tc>
                  <a:txBody>
                    <a:bodyPr/>
                    <a:lstStyle/>
                    <a:p>
                      <a:r>
                        <a:rPr sz="1725" b="0">
                          <a:solidFill>
                            <a:srgbClr val="FFFFFF"/>
                          </a:solidFill>
                          <a:latin typeface="DejaVu Sans"/>
                          <a:ea typeface="DejaVu Sans"/>
                          <a:cs typeface="DejaVu Sans"/>
                        </a:rPr>
                        <a:t>Next-day forecast ≥ 40°C</a:t>
                      </a:r>
                    </a:p>
                  </a:txBody>
                  <a:tcPr anchor="ctr">
                    <a:solidFill>
                      <a:srgbClr val="203744"/>
                    </a:solidFill>
                  </a:tcPr>
                </a:tc>
                <a:extLst>
                  <a:ext uri="{0D108BD9-81ED-4DB2-BD59-A6C34878D82A}">
                    <a16:rowId xmlns:a16="http://schemas.microsoft.com/office/drawing/2014/main" val="10003"/>
                  </a:ext>
                </a:extLst>
              </a:tr>
              <a:tr h="581025">
                <a:tc>
                  <a:txBody>
                    <a:bodyPr/>
                    <a:lstStyle/>
                    <a:p>
                      <a:r>
                        <a:rPr sz="1725" b="0">
                          <a:solidFill>
                            <a:srgbClr val="FFFFFF"/>
                          </a:solidFill>
                          <a:latin typeface="DejaVu Sans"/>
                          <a:ea typeface="DejaVu Sans"/>
                          <a:cs typeface="DejaVu Sans"/>
                        </a:rPr>
                        <a:t>4</a:t>
                      </a:r>
                    </a:p>
                  </a:txBody>
                  <a:tcPr anchor="ctr">
                    <a:solidFill>
                      <a:srgbClr val="29424F"/>
                    </a:solidFill>
                  </a:tcPr>
                </a:tc>
                <a:tc>
                  <a:txBody>
                    <a:bodyPr/>
                    <a:lstStyle/>
                    <a:p>
                      <a:r>
                        <a:rPr sz="1725" b="1">
                          <a:solidFill>
                            <a:srgbClr val="EAD18A"/>
                          </a:solidFill>
                          <a:latin typeface="DejaVu Sans"/>
                          <a:ea typeface="DejaVu Sans"/>
                          <a:cs typeface="DejaVu Sans"/>
                        </a:rPr>
                        <a:t>Moderate</a:t>
                      </a:r>
                    </a:p>
                  </a:txBody>
                  <a:tcPr anchor="ctr">
                    <a:solidFill>
                      <a:srgbClr val="29424F"/>
                    </a:solidFill>
                  </a:tcPr>
                </a:tc>
                <a:tc>
                  <a:txBody>
                    <a:bodyPr/>
                    <a:lstStyle/>
                    <a:p>
                      <a:r>
                        <a:rPr sz="1725" b="0">
                          <a:solidFill>
                            <a:srgbClr val="FFFFFF"/>
                          </a:solidFill>
                          <a:latin typeface="DejaVu Sans"/>
                          <a:ea typeface="DejaVu Sans"/>
                          <a:cs typeface="DejaVu Sans"/>
                        </a:rPr>
                        <a:t>Current temperature ≥ 35°C</a:t>
                      </a:r>
                    </a:p>
                  </a:txBody>
                  <a:tcPr anchor="ctr">
                    <a:solidFill>
                      <a:srgbClr val="29424F"/>
                    </a:solidFill>
                  </a:tcPr>
                </a:tc>
                <a:extLst>
                  <a:ext uri="{0D108BD9-81ED-4DB2-BD59-A6C34878D82A}">
                    <a16:rowId xmlns:a16="http://schemas.microsoft.com/office/drawing/2014/main" val="10004"/>
                  </a:ext>
                </a:extLst>
              </a:tr>
              <a:tr h="581025">
                <a:tc>
                  <a:txBody>
                    <a:bodyPr/>
                    <a:lstStyle/>
                    <a:p>
                      <a:r>
                        <a:rPr sz="1725" b="0">
                          <a:solidFill>
                            <a:srgbClr val="FFFFFF"/>
                          </a:solidFill>
                          <a:latin typeface="DejaVu Sans"/>
                          <a:ea typeface="DejaVu Sans"/>
                          <a:cs typeface="DejaVu Sans"/>
                        </a:rPr>
                        <a:t>5</a:t>
                      </a:r>
                    </a:p>
                  </a:txBody>
                  <a:tcPr anchor="ctr">
                    <a:solidFill>
                      <a:srgbClr val="203744"/>
                    </a:solidFill>
                  </a:tcPr>
                </a:tc>
                <a:tc>
                  <a:txBody>
                    <a:bodyPr/>
                    <a:lstStyle/>
                    <a:p>
                      <a:r>
                        <a:rPr sz="1725" b="1">
                          <a:solidFill>
                            <a:srgbClr val="A5D8BD"/>
                          </a:solidFill>
                          <a:latin typeface="DejaVu Sans"/>
                          <a:ea typeface="DejaVu Sans"/>
                          <a:cs typeface="DejaVu Sans"/>
                        </a:rPr>
                        <a:t>Normal</a:t>
                      </a:r>
                    </a:p>
                  </a:txBody>
                  <a:tcPr anchor="ctr">
                    <a:solidFill>
                      <a:srgbClr val="203744"/>
                    </a:solidFill>
                  </a:tcPr>
                </a:tc>
                <a:tc>
                  <a:txBody>
                    <a:bodyPr/>
                    <a:lstStyle/>
                    <a:p>
                      <a:r>
                        <a:rPr sz="1725" b="0" dirty="0">
                          <a:solidFill>
                            <a:srgbClr val="FFFFFF"/>
                          </a:solidFill>
                          <a:latin typeface="DejaVu Sans"/>
                          <a:ea typeface="DejaVu Sans"/>
                          <a:cs typeface="DejaVu Sans"/>
                        </a:rPr>
                        <a:t>None of the conditions above applies</a:t>
                      </a:r>
                    </a:p>
                  </a:txBody>
                  <a:tcPr anchor="ctr">
                    <a:solidFill>
                      <a:srgbClr val="203744"/>
                    </a:solidFill>
                  </a:tcPr>
                </a:tc>
                <a:extLst>
                  <a:ext uri="{0D108BD9-81ED-4DB2-BD59-A6C34878D82A}">
                    <a16:rowId xmlns:a16="http://schemas.microsoft.com/office/drawing/2014/main" val="10005"/>
                  </a:ext>
                </a:extLst>
              </a:tr>
            </a:tbl>
          </a:graphicData>
        </a:graphic>
      </p:graphicFrame>
      <p:sp>
        <p:nvSpPr>
          <p:cNvPr id="4" name="The configurable threshold is tracked separately from the ri">
            <a:extLst>
              <a:ext uri="{FF2B5EF4-FFF2-40B4-BE49-F238E27FC236}">
                <a16:creationId xmlns:a16="http://schemas.microsoft.com/office/drawing/2014/main" id="{DA39604A-CFA0-46A6-99D7-DEF103E286B4}"/>
              </a:ext>
            </a:extLst>
          </p:cNvPr>
          <p:cNvSpPr>
            <a:spLocks noGrp="1"/>
          </p:cNvSpPr>
          <p:nvPr/>
        </p:nvSpPr>
        <p:spPr>
          <a:xfrm>
            <a:off x="609600" y="5734050"/>
            <a:ext cx="10572750" cy="381000"/>
          </a:xfrm>
          <a:prstGeom prst="rect">
            <a:avLst/>
          </a:prstGeom>
          <a:noFill/>
          <a:ln w="0">
            <a:noFill/>
          </a:ln>
        </p:spPr>
        <p:txBody>
          <a:bodyPr wrap="square" lIns="0" tIns="0" rIns="0" bIns="0" anchor="t">
            <a:noAutofit/>
          </a:bodyPr>
          <a:lstStyle/>
          <a:p>
            <a:pPr>
              <a:buNone/>
              <a:defRPr sz="1725" b="1">
                <a:solidFill>
                  <a:srgbClr val="263B47"/>
                </a:solidFill>
                <a:latin typeface="DejaVu Sans"/>
                <a:ea typeface="DejaVu Sans"/>
                <a:cs typeface="DejaVu Sans"/>
              </a:defRPr>
            </a:pPr>
            <a:r>
              <a:rPr sz="1725" b="1">
                <a:solidFill>
                  <a:srgbClr val="FFFFFF"/>
                </a:solidFill>
                <a:latin typeface="DejaVu Sans"/>
                <a:ea typeface="DejaVu Sans"/>
                <a:cs typeface="DejaVu Sans"/>
              </a:rPr>
              <a:t>The configurable threshold is tracked separately from the risk category.</a:t>
            </a:r>
          </a:p>
        </p:txBody>
      </p:sp>
      <p:sp>
        <p:nvSpPr>
          <p:cNvPr id="5" name="Simplified demonstration rules. Actual warnings depend on of">
            <a:extLst>
              <a:ext uri="{FF2B5EF4-FFF2-40B4-BE49-F238E27FC236}">
                <a16:creationId xmlns:a16="http://schemas.microsoft.com/office/drawing/2014/main" id="{4AE252A4-5475-4BD6-9693-9208BC55AA6F}"/>
              </a:ext>
            </a:extLst>
          </p:cNvPr>
          <p:cNvSpPr>
            <a:spLocks noGrp="1"/>
          </p:cNvSpPr>
          <p:nvPr/>
        </p:nvSpPr>
        <p:spPr>
          <a:xfrm>
            <a:off x="609600" y="6191250"/>
            <a:ext cx="10458450" cy="381000"/>
          </a:xfrm>
          <a:prstGeom prst="rect">
            <a:avLst/>
          </a:prstGeom>
          <a:noFill/>
          <a:ln w="0">
            <a:noFill/>
          </a:ln>
        </p:spPr>
        <p:txBody>
          <a:bodyPr wrap="square" lIns="0" tIns="0" rIns="0" bIns="0" anchor="t">
            <a:noAutofit/>
          </a:bodyPr>
          <a:lstStyle/>
          <a:p>
            <a:pPr>
              <a:buNone/>
              <a:defRPr sz="1575" b="0">
                <a:solidFill>
                  <a:srgbClr val="576976"/>
                </a:solidFill>
                <a:latin typeface="DejaVu Sans"/>
                <a:ea typeface="DejaVu Sans"/>
                <a:cs typeface="DejaVu Sans"/>
              </a:defRPr>
            </a:pPr>
            <a:r>
              <a:rPr sz="1575" b="0">
                <a:solidFill>
                  <a:srgbClr val="C6D4DB"/>
                </a:solidFill>
                <a:latin typeface="DejaVu Sans"/>
                <a:ea typeface="DejaVu Sans"/>
                <a:cs typeface="DejaVu Sans"/>
              </a:rPr>
              <a:t>Simplified demonstration rules. Actual warnings depend on official local criteria.</a:t>
            </a:r>
          </a:p>
        </p:txBody>
      </p:sp>
      <p:sp>
        <p:nvSpPr>
          <p:cNvPr id="6" name="05">
            <a:extLst>
              <a:ext uri="{FF2B5EF4-FFF2-40B4-BE49-F238E27FC236}">
                <a16:creationId xmlns:a16="http://schemas.microsoft.com/office/drawing/2014/main" id="{19162486-CB27-4BA4-A8B6-971D3064659F}"/>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069635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9" name="Implementation: heat-risk dashboard">
            <a:extLst>
              <a:ext uri="{FF2B5EF4-FFF2-40B4-BE49-F238E27FC236}">
                <a16:creationId xmlns:a16="http://schemas.microsoft.com/office/drawing/2014/main" id="{5B0A7E0B-35E9-42AA-99B3-481BCD25B663}"/>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Implementation: heat-risk dashboard</a:t>
            </a:r>
          </a:p>
        </p:txBody>
      </p:sp>
      <p:pic>
        <p:nvPicPr>
          <p:cNvPr id="12" name="Picture 11"/>
          <p:cNvPicPr>
            <a:picLocks noChangeAspect="1"/>
          </p:cNvPicPr>
          <p:nvPr/>
        </p:nvPicPr>
        <p:blipFill>
          <a:blip r:embed="rId3"/>
          <a:stretch/>
        </p:blipFill>
        <p:spPr>
          <a:xfrm>
            <a:off x="3714750" y="1608940"/>
            <a:ext cx="7867650" cy="4783121"/>
          </a:xfrm>
          <a:prstGeom prst="rect">
            <a:avLst/>
          </a:prstGeom>
        </p:spPr>
      </p:pic>
      <p:sp>
        <p:nvSpPr>
          <p:cNvPr id="3" name="39°C">
            <a:extLst>
              <a:ext uri="{FF2B5EF4-FFF2-40B4-BE49-F238E27FC236}">
                <a16:creationId xmlns:a16="http://schemas.microsoft.com/office/drawing/2014/main" id="{273ECBB0-3E35-4751-A9AD-EE02DE99C0FF}"/>
              </a:ext>
            </a:extLst>
          </p:cNvPr>
          <p:cNvSpPr>
            <a:spLocks noGrp="1"/>
          </p:cNvSpPr>
          <p:nvPr/>
        </p:nvSpPr>
        <p:spPr>
          <a:xfrm>
            <a:off x="609600" y="1666875"/>
            <a:ext cx="2857500" cy="952500"/>
          </a:xfrm>
          <a:prstGeom prst="rect">
            <a:avLst/>
          </a:prstGeom>
          <a:noFill/>
          <a:ln w="0">
            <a:noFill/>
          </a:ln>
        </p:spPr>
        <p:txBody>
          <a:bodyPr wrap="square" lIns="0" tIns="0" rIns="0" bIns="0" anchor="t">
            <a:noAutofit/>
          </a:bodyPr>
          <a:lstStyle/>
          <a:p>
            <a:pPr>
              <a:buNone/>
              <a:defRPr sz="5400" b="1">
                <a:solidFill>
                  <a:srgbClr val="C35A29"/>
                </a:solidFill>
                <a:latin typeface="DejaVu Sans"/>
                <a:ea typeface="DejaVu Sans"/>
                <a:cs typeface="DejaVu Sans"/>
              </a:defRPr>
            </a:pPr>
            <a:r>
              <a:rPr sz="5400" b="1">
                <a:solidFill>
                  <a:srgbClr val="F3AA77"/>
                </a:solidFill>
                <a:latin typeface="DejaVu Sans"/>
                <a:ea typeface="DejaVu Sans"/>
                <a:cs typeface="DejaVu Sans"/>
              </a:rPr>
              <a:t>39°C</a:t>
            </a:r>
          </a:p>
        </p:txBody>
      </p:sp>
      <p:sp>
        <p:nvSpPr>
          <p:cNvPr id="4" name="Mumbai sample">
            <a:extLst>
              <a:ext uri="{FF2B5EF4-FFF2-40B4-BE49-F238E27FC236}">
                <a16:creationId xmlns:a16="http://schemas.microsoft.com/office/drawing/2014/main" id="{447E5F15-2DD6-4938-A4B3-50191E6DC966}"/>
              </a:ext>
            </a:extLst>
          </p:cNvPr>
          <p:cNvSpPr>
            <a:spLocks noGrp="1"/>
          </p:cNvSpPr>
          <p:nvPr/>
        </p:nvSpPr>
        <p:spPr>
          <a:xfrm>
            <a:off x="609600" y="2590800"/>
            <a:ext cx="2857500" cy="41910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Mumbai sample</a:t>
            </a:r>
          </a:p>
        </p:txBody>
      </p:sp>
      <p:sp>
        <p:nvSpPr>
          <p:cNvPr id="5" name="65% humidity 41°C next-day outlook">
            <a:extLst>
              <a:ext uri="{FF2B5EF4-FFF2-40B4-BE49-F238E27FC236}">
                <a16:creationId xmlns:a16="http://schemas.microsoft.com/office/drawing/2014/main" id="{9AE48201-6244-4453-B058-C800A86A769C}"/>
              </a:ext>
            </a:extLst>
          </p:cNvPr>
          <p:cNvSpPr>
            <a:spLocks noGrp="1"/>
          </p:cNvSpPr>
          <p:nvPr/>
        </p:nvSpPr>
        <p:spPr>
          <a:xfrm>
            <a:off x="609600" y="3181350"/>
            <a:ext cx="2886075" cy="895350"/>
          </a:xfrm>
          <a:prstGeom prst="rect">
            <a:avLst/>
          </a:prstGeom>
          <a:noFill/>
          <a:ln w="0">
            <a:noFill/>
          </a:ln>
        </p:spPr>
        <p:txBody>
          <a:bodyPr wrap="square" lIns="0" tIns="0" rIns="0" bIns="0" anchor="t">
            <a:noAutofit/>
          </a:bodyPr>
          <a:lstStyle/>
          <a:p>
            <a:pPr>
              <a:buNone/>
              <a:defRPr sz="1950" b="0">
                <a:solidFill>
                  <a:srgbClr val="576976"/>
                </a:solidFill>
                <a:latin typeface="DejaVu Sans"/>
                <a:ea typeface="DejaVu Sans"/>
                <a:cs typeface="DejaVu Sans"/>
              </a:defRPr>
            </a:pPr>
            <a:r>
              <a:rPr sz="1950" b="0">
                <a:solidFill>
                  <a:srgbClr val="C6D4DB"/>
                </a:solidFill>
                <a:latin typeface="DejaVu Sans"/>
                <a:ea typeface="DejaVu Sans"/>
                <a:cs typeface="DejaVu Sans"/>
              </a:rPr>
              <a:t>65% humidity</a:t>
            </a:r>
          </a:p>
          <a:p>
            <a:pPr>
              <a:buNone/>
              <a:defRPr sz="1950" b="0">
                <a:solidFill>
                  <a:srgbClr val="576976"/>
                </a:solidFill>
                <a:latin typeface="DejaVu Sans"/>
                <a:ea typeface="DejaVu Sans"/>
                <a:cs typeface="DejaVu Sans"/>
              </a:defRPr>
            </a:pPr>
            <a:r>
              <a:rPr sz="1950" b="0">
                <a:solidFill>
                  <a:srgbClr val="C6D4DB"/>
                </a:solidFill>
                <a:latin typeface="DejaVu Sans"/>
                <a:ea typeface="DejaVu Sans"/>
                <a:cs typeface="DejaVu Sans"/>
              </a:rPr>
              <a:t>41°C next-day outlook</a:t>
            </a:r>
          </a:p>
        </p:txBody>
      </p:sp>
      <p:sp>
        <p:nvSpPr>
          <p:cNvPr id="6" name="High heat risk">
            <a:extLst>
              <a:ext uri="{FF2B5EF4-FFF2-40B4-BE49-F238E27FC236}">
                <a16:creationId xmlns:a16="http://schemas.microsoft.com/office/drawing/2014/main" id="{E5005DE5-AFA5-4F31-BBBD-89080C685A9B}"/>
              </a:ext>
            </a:extLst>
          </p:cNvPr>
          <p:cNvSpPr>
            <a:spLocks noGrp="1"/>
          </p:cNvSpPr>
          <p:nvPr/>
        </p:nvSpPr>
        <p:spPr>
          <a:xfrm>
            <a:off x="609600" y="4371975"/>
            <a:ext cx="2952750" cy="495300"/>
          </a:xfrm>
          <a:prstGeom prst="rect">
            <a:avLst/>
          </a:prstGeom>
          <a:noFill/>
          <a:ln w="0">
            <a:noFill/>
          </a:ln>
        </p:spPr>
        <p:txBody>
          <a:bodyPr wrap="square" lIns="0" tIns="0" rIns="0" bIns="0" anchor="t">
            <a:noAutofit/>
          </a:bodyPr>
          <a:lstStyle/>
          <a:p>
            <a:pPr>
              <a:buNone/>
              <a:defRPr sz="2325" b="1">
                <a:solidFill>
                  <a:srgbClr val="263B47"/>
                </a:solidFill>
                <a:latin typeface="DejaVu Sans"/>
                <a:ea typeface="DejaVu Sans"/>
                <a:cs typeface="DejaVu Sans"/>
              </a:defRPr>
            </a:pPr>
            <a:r>
              <a:rPr sz="2325" b="1">
                <a:solidFill>
                  <a:srgbClr val="FFFFFF"/>
                </a:solidFill>
                <a:latin typeface="DejaVu Sans"/>
                <a:ea typeface="DejaVu Sans"/>
                <a:cs typeface="DejaVu Sans"/>
              </a:rPr>
              <a:t>High heat risk</a:t>
            </a:r>
          </a:p>
        </p:txBody>
      </p:sp>
      <p:sp>
        <p:nvSpPr>
          <p:cNvPr id="7" name="Advice and alert controls update with the conditions.">
            <a:extLst>
              <a:ext uri="{FF2B5EF4-FFF2-40B4-BE49-F238E27FC236}">
                <a16:creationId xmlns:a16="http://schemas.microsoft.com/office/drawing/2014/main" id="{837913D8-4939-47F8-98B4-2B144B026EA0}"/>
              </a:ext>
            </a:extLst>
          </p:cNvPr>
          <p:cNvSpPr>
            <a:spLocks noGrp="1"/>
          </p:cNvSpPr>
          <p:nvPr/>
        </p:nvSpPr>
        <p:spPr>
          <a:xfrm>
            <a:off x="609600" y="5019675"/>
            <a:ext cx="2886075" cy="942975"/>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Advice and alert controls</a:t>
            </a:r>
          </a:p>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update with the conditions.</a:t>
            </a:r>
          </a:p>
        </p:txBody>
      </p:sp>
      <p:sp>
        <p:nvSpPr>
          <p:cNvPr id="8" name="06">
            <a:extLst>
              <a:ext uri="{FF2B5EF4-FFF2-40B4-BE49-F238E27FC236}">
                <a16:creationId xmlns:a16="http://schemas.microsoft.com/office/drawing/2014/main" id="{50EE7647-F169-4420-A245-C031C0288362}"/>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472774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15" name="Demo: change, validate and reset">
            <a:extLst>
              <a:ext uri="{FF2B5EF4-FFF2-40B4-BE49-F238E27FC236}">
                <a16:creationId xmlns:a16="http://schemas.microsoft.com/office/drawing/2014/main" id="{E3EF2614-BB78-49DB-A2B9-7EA9769C47F7}"/>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Demo: change, validate and reset</a:t>
            </a:r>
          </a:p>
        </p:txBody>
      </p:sp>
      <p:sp>
        <p:nvSpPr>
          <p:cNvPr id="2" name="01">
            <a:extLst>
              <a:ext uri="{FF2B5EF4-FFF2-40B4-BE49-F238E27FC236}">
                <a16:creationId xmlns:a16="http://schemas.microsoft.com/office/drawing/2014/main" id="{C55D517A-E9B0-49E3-A75A-4E40F122C979}"/>
              </a:ext>
            </a:extLst>
          </p:cNvPr>
          <p:cNvSpPr>
            <a:spLocks noGrp="1"/>
          </p:cNvSpPr>
          <p:nvPr/>
        </p:nvSpPr>
        <p:spPr>
          <a:xfrm>
            <a:off x="609600" y="1704975"/>
            <a:ext cx="523875"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01</a:t>
            </a:r>
          </a:p>
        </p:txBody>
      </p:sp>
      <p:sp>
        <p:nvSpPr>
          <p:cNvPr id="3" name="Choose a scenario">
            <a:extLst>
              <a:ext uri="{FF2B5EF4-FFF2-40B4-BE49-F238E27FC236}">
                <a16:creationId xmlns:a16="http://schemas.microsoft.com/office/drawing/2014/main" id="{2576C148-1BB9-47BD-8837-2FB1E26F90C7}"/>
              </a:ext>
            </a:extLst>
          </p:cNvPr>
          <p:cNvSpPr>
            <a:spLocks noGrp="1"/>
          </p:cNvSpPr>
          <p:nvPr/>
        </p:nvSpPr>
        <p:spPr>
          <a:xfrm>
            <a:off x="1323975" y="1704975"/>
            <a:ext cx="428625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Choose a scenario</a:t>
            </a:r>
          </a:p>
        </p:txBody>
      </p:sp>
      <p:sp>
        <p:nvSpPr>
          <p:cNvPr id="4" name="Cycle through the five sample locations.">
            <a:extLst>
              <a:ext uri="{FF2B5EF4-FFF2-40B4-BE49-F238E27FC236}">
                <a16:creationId xmlns:a16="http://schemas.microsoft.com/office/drawing/2014/main" id="{505E9BC5-4824-4DED-ACE6-21061AF16B34}"/>
              </a:ext>
            </a:extLst>
          </p:cNvPr>
          <p:cNvSpPr>
            <a:spLocks noGrp="1"/>
          </p:cNvSpPr>
          <p:nvPr/>
        </p:nvSpPr>
        <p:spPr>
          <a:xfrm>
            <a:off x="1323975" y="2143125"/>
            <a:ext cx="4229100" cy="74295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Cycle through the five sample locations.</a:t>
            </a:r>
          </a:p>
        </p:txBody>
      </p:sp>
      <p:sp>
        <p:nvSpPr>
          <p:cNvPr id="5" name="02">
            <a:extLst>
              <a:ext uri="{FF2B5EF4-FFF2-40B4-BE49-F238E27FC236}">
                <a16:creationId xmlns:a16="http://schemas.microsoft.com/office/drawing/2014/main" id="{E848CBD3-A325-4ACC-8422-135CF22A3546}"/>
              </a:ext>
            </a:extLst>
          </p:cNvPr>
          <p:cNvSpPr>
            <a:spLocks noGrp="1"/>
          </p:cNvSpPr>
          <p:nvPr/>
        </p:nvSpPr>
        <p:spPr>
          <a:xfrm>
            <a:off x="609600" y="3076575"/>
            <a:ext cx="523875"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02</a:t>
            </a:r>
          </a:p>
        </p:txBody>
      </p:sp>
      <p:sp>
        <p:nvSpPr>
          <p:cNvPr id="6" name="Try an invalid value">
            <a:extLst>
              <a:ext uri="{FF2B5EF4-FFF2-40B4-BE49-F238E27FC236}">
                <a16:creationId xmlns:a16="http://schemas.microsoft.com/office/drawing/2014/main" id="{19FB18FA-FBE1-4E0D-9270-759055ED524B}"/>
              </a:ext>
            </a:extLst>
          </p:cNvPr>
          <p:cNvSpPr>
            <a:spLocks noGrp="1"/>
          </p:cNvSpPr>
          <p:nvPr/>
        </p:nvSpPr>
        <p:spPr>
          <a:xfrm>
            <a:off x="1323975" y="3076575"/>
            <a:ext cx="428625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Try an invalid value</a:t>
            </a:r>
          </a:p>
        </p:txBody>
      </p:sp>
      <p:sp>
        <p:nvSpPr>
          <p:cNvPr id="7" name="Enter 101% humidity and show the field error.">
            <a:extLst>
              <a:ext uri="{FF2B5EF4-FFF2-40B4-BE49-F238E27FC236}">
                <a16:creationId xmlns:a16="http://schemas.microsoft.com/office/drawing/2014/main" id="{020EE865-9684-4D67-938F-7219C5AA59FE}"/>
              </a:ext>
            </a:extLst>
          </p:cNvPr>
          <p:cNvSpPr>
            <a:spLocks noGrp="1"/>
          </p:cNvSpPr>
          <p:nvPr/>
        </p:nvSpPr>
        <p:spPr>
          <a:xfrm>
            <a:off x="1323975" y="3514725"/>
            <a:ext cx="4229100" cy="74295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Enter 101% humidity and show the field error.</a:t>
            </a:r>
          </a:p>
        </p:txBody>
      </p:sp>
      <p:sp>
        <p:nvSpPr>
          <p:cNvPr id="8" name="03">
            <a:extLst>
              <a:ext uri="{FF2B5EF4-FFF2-40B4-BE49-F238E27FC236}">
                <a16:creationId xmlns:a16="http://schemas.microsoft.com/office/drawing/2014/main" id="{D0CD8D79-FEBE-44FE-9BAE-A90EB84F705B}"/>
              </a:ext>
            </a:extLst>
          </p:cNvPr>
          <p:cNvSpPr>
            <a:spLocks noGrp="1"/>
          </p:cNvSpPr>
          <p:nvPr/>
        </p:nvSpPr>
        <p:spPr>
          <a:xfrm>
            <a:off x="609600" y="4448175"/>
            <a:ext cx="523875" cy="495300"/>
          </a:xfrm>
          <a:prstGeom prst="rect">
            <a:avLst/>
          </a:prstGeom>
          <a:noFill/>
          <a:ln w="0">
            <a:noFill/>
          </a:ln>
        </p:spPr>
        <p:txBody>
          <a:bodyPr wrap="square" lIns="0" tIns="0" rIns="0" bIns="0" anchor="t">
            <a:noAutofit/>
          </a:bodyPr>
          <a:lstStyle/>
          <a:p>
            <a:pPr>
              <a:buNone/>
              <a:defRPr sz="2550" b="1">
                <a:solidFill>
                  <a:srgbClr val="C35A29"/>
                </a:solidFill>
                <a:latin typeface="DejaVu Sans"/>
                <a:ea typeface="DejaVu Sans"/>
                <a:cs typeface="DejaVu Sans"/>
              </a:defRPr>
            </a:pPr>
            <a:r>
              <a:rPr sz="2550" b="1">
                <a:solidFill>
                  <a:srgbClr val="F3AA77"/>
                </a:solidFill>
                <a:latin typeface="DejaVu Sans"/>
                <a:ea typeface="DejaVu Sans"/>
                <a:cs typeface="DejaVu Sans"/>
              </a:rPr>
              <a:t>03</a:t>
            </a:r>
          </a:p>
        </p:txBody>
      </p:sp>
      <p:sp>
        <p:nvSpPr>
          <p:cNvPr id="9" name="Apply valid conditions">
            <a:extLst>
              <a:ext uri="{FF2B5EF4-FFF2-40B4-BE49-F238E27FC236}">
                <a16:creationId xmlns:a16="http://schemas.microsoft.com/office/drawing/2014/main" id="{EC5EB758-5589-453F-A771-B819F4541047}"/>
              </a:ext>
            </a:extLst>
          </p:cNvPr>
          <p:cNvSpPr>
            <a:spLocks noGrp="1"/>
          </p:cNvSpPr>
          <p:nvPr/>
        </p:nvSpPr>
        <p:spPr>
          <a:xfrm>
            <a:off x="1323975" y="4448175"/>
            <a:ext cx="4286250" cy="40005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Apply valid conditions</a:t>
            </a:r>
          </a:p>
        </p:txBody>
      </p:sp>
      <p:sp>
        <p:nvSpPr>
          <p:cNvPr id="10" name="Correct the value, update the dashboard, then reset.">
            <a:extLst>
              <a:ext uri="{FF2B5EF4-FFF2-40B4-BE49-F238E27FC236}">
                <a16:creationId xmlns:a16="http://schemas.microsoft.com/office/drawing/2014/main" id="{8C59312C-1FC8-4B55-9D5D-8833D33F3356}"/>
              </a:ext>
            </a:extLst>
          </p:cNvPr>
          <p:cNvSpPr>
            <a:spLocks noGrp="1"/>
          </p:cNvSpPr>
          <p:nvPr/>
        </p:nvSpPr>
        <p:spPr>
          <a:xfrm>
            <a:off x="1323975" y="4886325"/>
            <a:ext cx="4229100" cy="74295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Correct the value, update the dashboard, then reset.</a:t>
            </a:r>
          </a:p>
        </p:txBody>
      </p:sp>
      <p:sp>
        <p:nvSpPr>
          <p:cNvPr id="11" name="Field-level feedback">
            <a:extLst>
              <a:ext uri="{FF2B5EF4-FFF2-40B4-BE49-F238E27FC236}">
                <a16:creationId xmlns:a16="http://schemas.microsoft.com/office/drawing/2014/main" id="{73B954CE-850A-42D4-8132-756D4E358099}"/>
              </a:ext>
            </a:extLst>
          </p:cNvPr>
          <p:cNvSpPr>
            <a:spLocks noGrp="1"/>
          </p:cNvSpPr>
          <p:nvPr/>
        </p:nvSpPr>
        <p:spPr>
          <a:xfrm>
            <a:off x="6191250" y="1714500"/>
            <a:ext cx="5391150" cy="428625"/>
          </a:xfrm>
          <a:prstGeom prst="rect">
            <a:avLst/>
          </a:prstGeom>
          <a:noFill/>
          <a:ln w="0">
            <a:noFill/>
          </a:ln>
        </p:spPr>
        <p:txBody>
          <a:bodyPr wrap="square" lIns="0" tIns="0" rIns="0" bIns="0" anchor="t">
            <a:noAutofit/>
          </a:bodyPr>
          <a:lstStyle/>
          <a:p>
            <a:pPr>
              <a:buNone/>
              <a:defRPr sz="2100" b="1">
                <a:solidFill>
                  <a:srgbClr val="263B47"/>
                </a:solidFill>
                <a:latin typeface="DejaVu Sans"/>
                <a:ea typeface="DejaVu Sans"/>
                <a:cs typeface="DejaVu Sans"/>
              </a:defRPr>
            </a:pPr>
            <a:r>
              <a:rPr sz="2100" b="1">
                <a:solidFill>
                  <a:srgbClr val="FFFFFF"/>
                </a:solidFill>
                <a:latin typeface="DejaVu Sans"/>
                <a:ea typeface="DejaVu Sans"/>
                <a:cs typeface="DejaVu Sans"/>
              </a:rPr>
              <a:t>Field-level feedback</a:t>
            </a:r>
          </a:p>
        </p:txBody>
      </p:sp>
      <p:pic>
        <p:nvPicPr>
          <p:cNvPr id="28" name="Picture 27"/>
          <p:cNvPicPr>
            <a:picLocks noChangeAspect="1"/>
          </p:cNvPicPr>
          <p:nvPr/>
        </p:nvPicPr>
        <p:blipFill>
          <a:blip r:embed="rId3"/>
          <a:stretch/>
        </p:blipFill>
        <p:spPr>
          <a:xfrm>
            <a:off x="6191250" y="2596698"/>
            <a:ext cx="5391150" cy="1426478"/>
          </a:xfrm>
          <a:prstGeom prst="rect">
            <a:avLst/>
          </a:prstGeom>
        </p:spPr>
      </p:pic>
      <p:sp>
        <p:nvSpPr>
          <p:cNvPr id="13" name="Invalid inputs keep the current dashboard unchanged.">
            <a:extLst>
              <a:ext uri="{FF2B5EF4-FFF2-40B4-BE49-F238E27FC236}">
                <a16:creationId xmlns:a16="http://schemas.microsoft.com/office/drawing/2014/main" id="{BA181B01-1268-4AF9-849F-8B59F99765EB}"/>
              </a:ext>
            </a:extLst>
          </p:cNvPr>
          <p:cNvSpPr>
            <a:spLocks noGrp="1"/>
          </p:cNvSpPr>
          <p:nvPr/>
        </p:nvSpPr>
        <p:spPr>
          <a:xfrm>
            <a:off x="6191250" y="5010150"/>
            <a:ext cx="5391150" cy="914400"/>
          </a:xfrm>
          <a:prstGeom prst="rect">
            <a:avLst/>
          </a:prstGeom>
          <a:noFill/>
          <a:ln w="0">
            <a:noFill/>
          </a:ln>
        </p:spPr>
        <p:txBody>
          <a:bodyPr wrap="square" lIns="0" tIns="0" rIns="0" bIns="0" anchor="t">
            <a:noAutofit/>
          </a:bodyPr>
          <a:lstStyle/>
          <a:p>
            <a:pPr>
              <a:buNone/>
              <a:defRPr sz="1950" b="1">
                <a:solidFill>
                  <a:srgbClr val="263B47"/>
                </a:solidFill>
                <a:latin typeface="DejaVu Sans"/>
                <a:ea typeface="DejaVu Sans"/>
                <a:cs typeface="DejaVu Sans"/>
              </a:defRPr>
            </a:pPr>
            <a:r>
              <a:rPr sz="1950" b="1">
                <a:solidFill>
                  <a:srgbClr val="FFFFFF"/>
                </a:solidFill>
                <a:latin typeface="DejaVu Sans"/>
                <a:ea typeface="DejaVu Sans"/>
                <a:cs typeface="DejaVu Sans"/>
              </a:rPr>
              <a:t>Invalid inputs keep the current dashboard unchanged.</a:t>
            </a:r>
          </a:p>
        </p:txBody>
      </p:sp>
      <p:sp>
        <p:nvSpPr>
          <p:cNvPr id="14" name="07">
            <a:extLst>
              <a:ext uri="{FF2B5EF4-FFF2-40B4-BE49-F238E27FC236}">
                <a16:creationId xmlns:a16="http://schemas.microsoft.com/office/drawing/2014/main" id="{3DE3BABC-B39C-4325-BBF7-80A506598D3E}"/>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916675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11" name="Results &amp; outcome">
            <a:extLst>
              <a:ext uri="{FF2B5EF4-FFF2-40B4-BE49-F238E27FC236}">
                <a16:creationId xmlns:a16="http://schemas.microsoft.com/office/drawing/2014/main" id="{7FD0FFF0-A070-49C9-8F5C-BCE031E147BF}"/>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263B47"/>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Results &amp; outcome</a:t>
            </a:r>
          </a:p>
        </p:txBody>
      </p:sp>
      <p:sp>
        <p:nvSpPr>
          <p:cNvPr id="2" name="Ten sample temperature readings">
            <a:extLst>
              <a:ext uri="{FF2B5EF4-FFF2-40B4-BE49-F238E27FC236}">
                <a16:creationId xmlns:a16="http://schemas.microsoft.com/office/drawing/2014/main" id="{3F4A1C21-9AB0-4F4C-9D26-866A4EFF3D84}"/>
              </a:ext>
            </a:extLst>
          </p:cNvPr>
          <p:cNvSpPr>
            <a:spLocks noGrp="1"/>
          </p:cNvSpPr>
          <p:nvPr/>
        </p:nvSpPr>
        <p:spPr>
          <a:xfrm>
            <a:off x="609600" y="1371600"/>
            <a:ext cx="7239000" cy="419100"/>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Ten sample temperature readings</a:t>
            </a:r>
          </a:p>
        </p:txBody>
      </p:sp>
      <p:graphicFrame>
        <p:nvGraphicFramePr>
          <p:cNvPr id="15" name="Chart"/>
          <p:cNvGraphicFramePr/>
          <p:nvPr/>
        </p:nvGraphicFramePr>
        <p:xfrm>
          <a:off x="466725" y="1905000"/>
          <a:ext cx="7524750" cy="3219450"/>
        </p:xfrm>
        <a:graphic>
          <a:graphicData uri="http://schemas.openxmlformats.org/drawingml/2006/chart">
            <c:chart xmlns:c="http://schemas.openxmlformats.org/drawingml/2006/chart" xmlns:r="http://schemas.openxmlformats.org/officeDocument/2006/relationships" r:id="rId3"/>
          </a:graphicData>
        </a:graphic>
      </p:graphicFrame>
      <p:sp>
        <p:nvSpPr>
          <p:cNvPr id="4" name="38.1°C">
            <a:extLst>
              <a:ext uri="{FF2B5EF4-FFF2-40B4-BE49-F238E27FC236}">
                <a16:creationId xmlns:a16="http://schemas.microsoft.com/office/drawing/2014/main" id="{94A7E14E-95B1-428A-A29A-7F1783ED3BB3}"/>
              </a:ext>
            </a:extLst>
          </p:cNvPr>
          <p:cNvSpPr>
            <a:spLocks noGrp="1"/>
          </p:cNvSpPr>
          <p:nvPr/>
        </p:nvSpPr>
        <p:spPr>
          <a:xfrm>
            <a:off x="8553450" y="1743075"/>
            <a:ext cx="3028950" cy="857250"/>
          </a:xfrm>
          <a:prstGeom prst="rect">
            <a:avLst/>
          </a:prstGeom>
          <a:noFill/>
          <a:ln w="0">
            <a:noFill/>
          </a:ln>
        </p:spPr>
        <p:txBody>
          <a:bodyPr wrap="square" lIns="0" tIns="0" rIns="0" bIns="0" anchor="t">
            <a:noAutofit/>
          </a:bodyPr>
          <a:lstStyle/>
          <a:p>
            <a:pPr>
              <a:buNone/>
              <a:defRPr sz="4800" b="1">
                <a:solidFill>
                  <a:srgbClr val="C35A29"/>
                </a:solidFill>
                <a:latin typeface="DejaVu Sans"/>
                <a:ea typeface="DejaVu Sans"/>
                <a:cs typeface="DejaVu Sans"/>
              </a:defRPr>
            </a:pPr>
            <a:r>
              <a:rPr sz="4800" b="1">
                <a:solidFill>
                  <a:srgbClr val="F3AA77"/>
                </a:solidFill>
                <a:latin typeface="DejaVu Sans"/>
                <a:ea typeface="DejaVu Sans"/>
                <a:cs typeface="DejaVu Sans"/>
              </a:rPr>
              <a:t>38.1°C</a:t>
            </a:r>
          </a:p>
        </p:txBody>
      </p:sp>
      <p:sp>
        <p:nvSpPr>
          <p:cNvPr id="5" name="Average temperature">
            <a:extLst>
              <a:ext uri="{FF2B5EF4-FFF2-40B4-BE49-F238E27FC236}">
                <a16:creationId xmlns:a16="http://schemas.microsoft.com/office/drawing/2014/main" id="{9586A995-7C91-4A1E-A818-690CF9A7863C}"/>
              </a:ext>
            </a:extLst>
          </p:cNvPr>
          <p:cNvSpPr>
            <a:spLocks noGrp="1"/>
          </p:cNvSpPr>
          <p:nvPr/>
        </p:nvSpPr>
        <p:spPr>
          <a:xfrm>
            <a:off x="8553450" y="2590800"/>
            <a:ext cx="3028950" cy="38100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Average temperature</a:t>
            </a:r>
          </a:p>
        </p:txBody>
      </p:sp>
      <p:sp>
        <p:nvSpPr>
          <p:cNvPr id="6" name="6 / 10">
            <a:extLst>
              <a:ext uri="{FF2B5EF4-FFF2-40B4-BE49-F238E27FC236}">
                <a16:creationId xmlns:a16="http://schemas.microsoft.com/office/drawing/2014/main" id="{3EF4FF5C-5CD2-466D-B5AD-87E8BB1213C0}"/>
              </a:ext>
            </a:extLst>
          </p:cNvPr>
          <p:cNvSpPr>
            <a:spLocks noGrp="1"/>
          </p:cNvSpPr>
          <p:nvPr/>
        </p:nvSpPr>
        <p:spPr>
          <a:xfrm>
            <a:off x="8553450" y="3381375"/>
            <a:ext cx="3028950" cy="781050"/>
          </a:xfrm>
          <a:prstGeom prst="rect">
            <a:avLst/>
          </a:prstGeom>
          <a:noFill/>
          <a:ln w="0">
            <a:noFill/>
          </a:ln>
        </p:spPr>
        <p:txBody>
          <a:bodyPr wrap="square" lIns="0" tIns="0" rIns="0" bIns="0" anchor="t">
            <a:noAutofit/>
          </a:bodyPr>
          <a:lstStyle/>
          <a:p>
            <a:pPr>
              <a:buNone/>
              <a:defRPr sz="4275" b="1">
                <a:solidFill>
                  <a:srgbClr val="263B47"/>
                </a:solidFill>
                <a:latin typeface="DejaVu Sans"/>
                <a:ea typeface="DejaVu Sans"/>
                <a:cs typeface="DejaVu Sans"/>
              </a:defRPr>
            </a:pPr>
            <a:r>
              <a:rPr sz="4275" b="1">
                <a:solidFill>
                  <a:srgbClr val="FFFFFF"/>
                </a:solidFill>
                <a:latin typeface="DejaVu Sans"/>
                <a:ea typeface="DejaVu Sans"/>
                <a:cs typeface="DejaVu Sans"/>
              </a:rPr>
              <a:t>6 / 10</a:t>
            </a:r>
          </a:p>
        </p:txBody>
      </p:sp>
      <p:sp>
        <p:nvSpPr>
          <p:cNvPr id="7" name="Strictly above 37°C">
            <a:extLst>
              <a:ext uri="{FF2B5EF4-FFF2-40B4-BE49-F238E27FC236}">
                <a16:creationId xmlns:a16="http://schemas.microsoft.com/office/drawing/2014/main" id="{94762B9A-ABA0-4BEC-84CB-6A4343B7F542}"/>
              </a:ext>
            </a:extLst>
          </p:cNvPr>
          <p:cNvSpPr>
            <a:spLocks noGrp="1"/>
          </p:cNvSpPr>
          <p:nvPr/>
        </p:nvSpPr>
        <p:spPr>
          <a:xfrm>
            <a:off x="8553450" y="4181475"/>
            <a:ext cx="3028950" cy="381000"/>
          </a:xfrm>
          <a:prstGeom prst="rect">
            <a:avLst/>
          </a:prstGeom>
          <a:noFill/>
          <a:ln w="0">
            <a:noFill/>
          </a:ln>
        </p:spPr>
        <p:txBody>
          <a:bodyPr wrap="square" lIns="0" tIns="0" rIns="0" bIns="0" anchor="t">
            <a:noAutofit/>
          </a:bodyPr>
          <a:lstStyle/>
          <a:p>
            <a:pPr>
              <a:buNone/>
              <a:defRPr sz="1800" b="0">
                <a:solidFill>
                  <a:srgbClr val="576976"/>
                </a:solidFill>
                <a:latin typeface="DejaVu Sans"/>
                <a:ea typeface="DejaVu Sans"/>
                <a:cs typeface="DejaVu Sans"/>
              </a:defRPr>
            </a:pPr>
            <a:r>
              <a:rPr sz="1800" b="0">
                <a:solidFill>
                  <a:srgbClr val="C6D4DB"/>
                </a:solidFill>
                <a:latin typeface="DejaVu Sans"/>
                <a:ea typeface="DejaVu Sans"/>
                <a:cs typeface="DejaVu Sans"/>
              </a:rPr>
              <a:t>Strictly above 37°C</a:t>
            </a:r>
          </a:p>
        </p:txBody>
      </p:sp>
      <p:sp>
        <p:nvSpPr>
          <p:cNvPr id="8" name="3 readings at or above 40°C">
            <a:extLst>
              <a:ext uri="{FF2B5EF4-FFF2-40B4-BE49-F238E27FC236}">
                <a16:creationId xmlns:a16="http://schemas.microsoft.com/office/drawing/2014/main" id="{DA57DDF0-DF12-47F1-BFA5-5DB056A22544}"/>
              </a:ext>
            </a:extLst>
          </p:cNvPr>
          <p:cNvSpPr>
            <a:spLocks noGrp="1"/>
          </p:cNvSpPr>
          <p:nvPr/>
        </p:nvSpPr>
        <p:spPr>
          <a:xfrm>
            <a:off x="609600" y="5467350"/>
            <a:ext cx="10477500" cy="428625"/>
          </a:xfrm>
          <a:prstGeom prst="rect">
            <a:avLst/>
          </a:prstGeom>
          <a:noFill/>
          <a:ln w="0">
            <a:noFill/>
          </a:ln>
        </p:spPr>
        <p:txBody>
          <a:bodyPr wrap="square" lIns="0" tIns="0" rIns="0" bIns="0" anchor="t">
            <a:noAutofit/>
          </a:bodyPr>
          <a:lstStyle/>
          <a:p>
            <a:pPr>
              <a:buNone/>
              <a:defRPr sz="2025" b="1">
                <a:solidFill>
                  <a:srgbClr val="263B47"/>
                </a:solidFill>
                <a:latin typeface="DejaVu Sans"/>
                <a:ea typeface="DejaVu Sans"/>
                <a:cs typeface="DejaVu Sans"/>
              </a:defRPr>
            </a:pPr>
            <a:r>
              <a:rPr sz="2025" b="1">
                <a:solidFill>
                  <a:srgbClr val="FFFFFF"/>
                </a:solidFill>
                <a:latin typeface="DejaVu Sans"/>
                <a:ea typeface="DejaVu Sans"/>
                <a:cs typeface="DejaVu Sans"/>
              </a:rPr>
              <a:t>3 readings at or above 40°C</a:t>
            </a:r>
          </a:p>
        </p:txBody>
      </p:sp>
      <p:sp>
        <p:nvSpPr>
          <p:cNvPr id="9" name="Both file versions work offline. Checks covered Chromium, Fi">
            <a:extLst>
              <a:ext uri="{FF2B5EF4-FFF2-40B4-BE49-F238E27FC236}">
                <a16:creationId xmlns:a16="http://schemas.microsoft.com/office/drawing/2014/main" id="{9519DDB6-510F-49F3-BB97-64BD55CA3C54}"/>
              </a:ext>
            </a:extLst>
          </p:cNvPr>
          <p:cNvSpPr>
            <a:spLocks noGrp="1"/>
          </p:cNvSpPr>
          <p:nvPr/>
        </p:nvSpPr>
        <p:spPr>
          <a:xfrm>
            <a:off x="609600" y="6010275"/>
            <a:ext cx="10477500" cy="609600"/>
          </a:xfrm>
          <a:prstGeom prst="rect">
            <a:avLst/>
          </a:prstGeom>
          <a:noFill/>
          <a:ln w="0">
            <a:noFill/>
          </a:ln>
        </p:spPr>
        <p:txBody>
          <a:bodyPr wrap="square" lIns="0" tIns="0" rIns="0" bIns="0" anchor="t">
            <a:noAutofit/>
          </a:bodyPr>
          <a:lstStyle/>
          <a:p>
            <a:pPr>
              <a:buNone/>
              <a:defRPr sz="1725" b="0">
                <a:solidFill>
                  <a:srgbClr val="576976"/>
                </a:solidFill>
                <a:latin typeface="DejaVu Sans"/>
                <a:ea typeface="DejaVu Sans"/>
                <a:cs typeface="DejaVu Sans"/>
              </a:defRPr>
            </a:pPr>
            <a:r>
              <a:rPr sz="1725" b="0">
                <a:solidFill>
                  <a:srgbClr val="C6D4DB"/>
                </a:solidFill>
                <a:latin typeface="DejaVu Sans"/>
                <a:ea typeface="DejaVu Sans"/>
                <a:cs typeface="DejaVu Sans"/>
              </a:rPr>
              <a:t>Both file versions work offline. Checks covered Chromium, Firefox, input validation and layouts from 320–1440px.</a:t>
            </a:r>
          </a:p>
        </p:txBody>
      </p:sp>
      <p:sp>
        <p:nvSpPr>
          <p:cNvPr id="10" name="08">
            <a:extLst>
              <a:ext uri="{FF2B5EF4-FFF2-40B4-BE49-F238E27FC236}">
                <a16:creationId xmlns:a16="http://schemas.microsoft.com/office/drawing/2014/main" id="{E695B80B-D589-43CB-93F9-0D15BF4CDD27}"/>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576976"/>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2076721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631"/>
        </a:solidFill>
        <a:effectLst/>
      </p:bgPr>
    </p:bg>
    <p:spTree>
      <p:nvGrpSpPr>
        <p:cNvPr id="1" name=""/>
        <p:cNvGrpSpPr/>
        <p:nvPr/>
      </p:nvGrpSpPr>
      <p:grpSpPr>
        <a:xfrm>
          <a:off x="0" y="0"/>
          <a:ext cx="0" cy="0"/>
          <a:chOff x="0" y="0"/>
          <a:chExt cx="0" cy="0"/>
        </a:xfrm>
      </p:grpSpPr>
      <p:sp>
        <p:nvSpPr>
          <p:cNvPr id="8" name="Conclusion &amp; future scope">
            <a:extLst>
              <a:ext uri="{FF2B5EF4-FFF2-40B4-BE49-F238E27FC236}">
                <a16:creationId xmlns:a16="http://schemas.microsoft.com/office/drawing/2014/main" id="{4046E397-D5EA-4150-B903-0CEC5868ECE2}"/>
              </a:ext>
            </a:extLst>
          </p:cNvPr>
          <p:cNvSpPr>
            <a:spLocks noGrp="1"/>
          </p:cNvSpPr>
          <p:nvPr/>
        </p:nvSpPr>
        <p:spPr>
          <a:xfrm>
            <a:off x="609600" y="514350"/>
            <a:ext cx="10906125" cy="762000"/>
          </a:xfrm>
          <a:prstGeom prst="rect">
            <a:avLst/>
          </a:prstGeom>
          <a:noFill/>
          <a:ln w="0">
            <a:noFill/>
          </a:ln>
        </p:spPr>
        <p:txBody>
          <a:bodyPr wrap="square" lIns="0" tIns="0" rIns="0" bIns="0" anchor="t">
            <a:noAutofit/>
          </a:bodyPr>
          <a:lstStyle/>
          <a:p>
            <a:pPr>
              <a:buNone/>
              <a:defRPr sz="3300" b="1">
                <a:solidFill>
                  <a:srgbClr val="FFFFFF"/>
                </a:solidFill>
                <a:latin typeface="DejaVu Sans"/>
                <a:ea typeface="DejaVu Sans"/>
                <a:cs typeface="DejaVu Sans"/>
              </a:defRPr>
            </a:pPr>
            <a:r>
              <a:rPr lang="en-US" sz="4000" b="1" dirty="0">
                <a:solidFill>
                  <a:schemeClr val="accent4"/>
                </a:solidFill>
                <a:latin typeface="DejaVu Sans"/>
                <a:ea typeface="DejaVu Sans"/>
                <a:cs typeface="DejaVu Sans"/>
              </a:rPr>
              <a:t>              </a:t>
            </a:r>
            <a:r>
              <a:rPr sz="4000" b="1" dirty="0">
                <a:solidFill>
                  <a:schemeClr val="accent4"/>
                </a:solidFill>
                <a:latin typeface="DejaVu Sans"/>
                <a:ea typeface="DejaVu Sans"/>
                <a:cs typeface="DejaVu Sans"/>
              </a:rPr>
              <a:t>Conclusion &amp; future scope</a:t>
            </a:r>
          </a:p>
        </p:txBody>
      </p:sp>
      <p:pic>
        <p:nvPicPr>
          <p:cNvPr id="11" name="Picture 10"/>
          <p:cNvPicPr>
            <a:picLocks noChangeAspect="1"/>
          </p:cNvPicPr>
          <p:nvPr/>
        </p:nvPicPr>
        <p:blipFill>
          <a:blip r:embed="rId3"/>
          <a:srcRect l="17791" r="17791"/>
          <a:stretch>
            <a:fillRect/>
          </a:stretch>
        </p:blipFill>
        <p:spPr>
          <a:xfrm>
            <a:off x="609600" y="1346855"/>
            <a:ext cx="4171950" cy="4314825"/>
          </a:xfrm>
          <a:prstGeom prst="rect">
            <a:avLst/>
          </a:prstGeom>
        </p:spPr>
      </p:pic>
      <p:sp>
        <p:nvSpPr>
          <p:cNvPr id="3" name="A complete offline experience">
            <a:extLst>
              <a:ext uri="{FF2B5EF4-FFF2-40B4-BE49-F238E27FC236}">
                <a16:creationId xmlns:a16="http://schemas.microsoft.com/office/drawing/2014/main" id="{BE55CC06-D891-4D1A-8793-E38725BA405B}"/>
              </a:ext>
            </a:extLst>
          </p:cNvPr>
          <p:cNvSpPr>
            <a:spLocks noGrp="1"/>
          </p:cNvSpPr>
          <p:nvPr/>
        </p:nvSpPr>
        <p:spPr>
          <a:xfrm>
            <a:off x="5438775" y="1395412"/>
            <a:ext cx="6143625" cy="762000"/>
          </a:xfrm>
          <a:prstGeom prst="rect">
            <a:avLst/>
          </a:prstGeom>
          <a:noFill/>
          <a:ln w="0">
            <a:noFill/>
          </a:ln>
        </p:spPr>
        <p:txBody>
          <a:bodyPr wrap="square" lIns="0" tIns="0" rIns="0" bIns="0" anchor="t">
            <a:noAutofit/>
          </a:bodyPr>
          <a:lstStyle/>
          <a:p>
            <a:pPr>
              <a:buNone/>
              <a:defRPr sz="2550" b="1">
                <a:solidFill>
                  <a:srgbClr val="FFFFFF"/>
                </a:solidFill>
                <a:latin typeface="DejaVu Sans"/>
                <a:ea typeface="DejaVu Sans"/>
                <a:cs typeface="DejaVu Sans"/>
              </a:defRPr>
            </a:pPr>
            <a:r>
              <a:rPr sz="2550" b="1" dirty="0">
                <a:solidFill>
                  <a:srgbClr val="FFFFFF"/>
                </a:solidFill>
                <a:latin typeface="DejaVu Sans"/>
                <a:ea typeface="DejaVu Sans"/>
                <a:cs typeface="DejaVu Sans"/>
              </a:rPr>
              <a:t>A complete offline experience</a:t>
            </a:r>
          </a:p>
        </p:txBody>
      </p:sp>
      <p:sp>
        <p:nvSpPr>
          <p:cNvPr id="4" name="Heatwatch combines understandable risk categories, validated">
            <a:extLst>
              <a:ext uri="{FF2B5EF4-FFF2-40B4-BE49-F238E27FC236}">
                <a16:creationId xmlns:a16="http://schemas.microsoft.com/office/drawing/2014/main" id="{9A59331C-DDB5-443C-BD64-8FE463B0E21C}"/>
              </a:ext>
            </a:extLst>
          </p:cNvPr>
          <p:cNvSpPr>
            <a:spLocks noGrp="1"/>
          </p:cNvSpPr>
          <p:nvPr/>
        </p:nvSpPr>
        <p:spPr>
          <a:xfrm>
            <a:off x="5438775" y="1955006"/>
            <a:ext cx="6076950" cy="1181100"/>
          </a:xfrm>
          <a:prstGeom prst="rect">
            <a:avLst/>
          </a:prstGeom>
          <a:noFill/>
          <a:ln w="0">
            <a:noFill/>
          </a:ln>
        </p:spPr>
        <p:txBody>
          <a:bodyPr wrap="square" lIns="0" tIns="0" rIns="0" bIns="0" anchor="t">
            <a:noAutofit/>
          </a:bodyPr>
          <a:lstStyle/>
          <a:p>
            <a:pPr>
              <a:buNone/>
              <a:defRPr sz="2025" b="0">
                <a:solidFill>
                  <a:srgbClr val="C6D4DB"/>
                </a:solidFill>
                <a:latin typeface="DejaVu Sans"/>
                <a:ea typeface="DejaVu Sans"/>
                <a:cs typeface="DejaVu Sans"/>
              </a:defRPr>
            </a:pPr>
            <a:r>
              <a:rPr sz="2025" b="0" dirty="0" err="1">
                <a:solidFill>
                  <a:srgbClr val="C6D4DB"/>
                </a:solidFill>
                <a:latin typeface="DejaVu Sans"/>
                <a:ea typeface="DejaVu Sans"/>
                <a:cs typeface="DejaVu Sans"/>
              </a:rPr>
              <a:t>Heatwatch</a:t>
            </a:r>
            <a:r>
              <a:rPr sz="2025" b="0" dirty="0">
                <a:solidFill>
                  <a:srgbClr val="C6D4DB"/>
                </a:solidFill>
                <a:latin typeface="DejaVu Sans"/>
                <a:ea typeface="DejaVu Sans"/>
                <a:cs typeface="DejaVu Sans"/>
              </a:rPr>
              <a:t> combines understandable risk categories, validated inputs and temperature analysis in one responsive website.</a:t>
            </a:r>
          </a:p>
        </p:txBody>
      </p:sp>
      <p:sp>
        <p:nvSpPr>
          <p:cNvPr id="5" name="Future scope">
            <a:extLst>
              <a:ext uri="{FF2B5EF4-FFF2-40B4-BE49-F238E27FC236}">
                <a16:creationId xmlns:a16="http://schemas.microsoft.com/office/drawing/2014/main" id="{9E9D8056-5D66-4EB1-8C2B-7925603E7A22}"/>
              </a:ext>
            </a:extLst>
          </p:cNvPr>
          <p:cNvSpPr>
            <a:spLocks noGrp="1"/>
          </p:cNvSpPr>
          <p:nvPr/>
        </p:nvSpPr>
        <p:spPr>
          <a:xfrm>
            <a:off x="5453062" y="3226592"/>
            <a:ext cx="6048375" cy="495300"/>
          </a:xfrm>
          <a:prstGeom prst="rect">
            <a:avLst/>
          </a:prstGeom>
          <a:noFill/>
          <a:ln w="0">
            <a:noFill/>
          </a:ln>
        </p:spPr>
        <p:txBody>
          <a:bodyPr wrap="square" lIns="0" tIns="0" rIns="0" bIns="0" anchor="t">
            <a:noAutofit/>
          </a:bodyPr>
          <a:lstStyle/>
          <a:p>
            <a:pPr>
              <a:buNone/>
              <a:defRPr sz="2325" b="1">
                <a:solidFill>
                  <a:srgbClr val="F3AA77"/>
                </a:solidFill>
                <a:latin typeface="DejaVu Sans"/>
                <a:ea typeface="DejaVu Sans"/>
                <a:cs typeface="DejaVu Sans"/>
              </a:defRPr>
            </a:pPr>
            <a:r>
              <a:rPr sz="2325" b="1" dirty="0">
                <a:solidFill>
                  <a:srgbClr val="F3AA77"/>
                </a:solidFill>
                <a:latin typeface="DejaVu Sans"/>
                <a:ea typeface="DejaVu Sans"/>
                <a:cs typeface="DejaVu Sans"/>
              </a:rPr>
              <a:t>Future scope</a:t>
            </a:r>
          </a:p>
        </p:txBody>
      </p:sp>
      <p:sp>
        <p:nvSpPr>
          <p:cNvPr id="6" name="Connect a verified weather API or sensor feed. Store histori">
            <a:extLst>
              <a:ext uri="{FF2B5EF4-FFF2-40B4-BE49-F238E27FC236}">
                <a16:creationId xmlns:a16="http://schemas.microsoft.com/office/drawing/2014/main" id="{6BC9EFA6-A36A-4D4A-88FB-4218ABFDD305}"/>
              </a:ext>
            </a:extLst>
          </p:cNvPr>
          <p:cNvSpPr>
            <a:spLocks noGrp="1"/>
          </p:cNvSpPr>
          <p:nvPr/>
        </p:nvSpPr>
        <p:spPr>
          <a:xfrm>
            <a:off x="5438775" y="3721895"/>
            <a:ext cx="6000750" cy="1333500"/>
          </a:xfrm>
          <a:prstGeom prst="rect">
            <a:avLst/>
          </a:prstGeom>
          <a:noFill/>
          <a:ln w="0">
            <a:noFill/>
          </a:ln>
        </p:spPr>
        <p:txBody>
          <a:bodyPr wrap="square" lIns="0" tIns="0" rIns="0" bIns="0" anchor="t">
            <a:noAutofit/>
          </a:bodyPr>
          <a:lstStyle/>
          <a:p>
            <a:pPr>
              <a:buNone/>
              <a:defRPr sz="1875" b="0">
                <a:solidFill>
                  <a:srgbClr val="C6D4DB"/>
                </a:solidFill>
                <a:latin typeface="DejaVu Sans"/>
                <a:ea typeface="DejaVu Sans"/>
                <a:cs typeface="DejaVu Sans"/>
              </a:defRPr>
            </a:pPr>
            <a:r>
              <a:rPr sz="1875" b="0" dirty="0">
                <a:solidFill>
                  <a:srgbClr val="C6D4DB"/>
                </a:solidFill>
                <a:latin typeface="DejaVu Sans"/>
                <a:ea typeface="DejaVu Sans"/>
                <a:cs typeface="DejaVu Sans"/>
              </a:rPr>
              <a:t>Connect a verified weather API or sensor feed.</a:t>
            </a:r>
          </a:p>
          <a:p>
            <a:pPr>
              <a:buNone/>
              <a:defRPr sz="1875" b="0">
                <a:solidFill>
                  <a:srgbClr val="C6D4DB"/>
                </a:solidFill>
                <a:latin typeface="DejaVu Sans"/>
                <a:ea typeface="DejaVu Sans"/>
                <a:cs typeface="DejaVu Sans"/>
              </a:defRPr>
            </a:pPr>
            <a:r>
              <a:rPr sz="1875" b="0" dirty="0">
                <a:solidFill>
                  <a:srgbClr val="C6D4DB"/>
                </a:solidFill>
                <a:latin typeface="DejaVu Sans"/>
                <a:ea typeface="DejaVu Sans"/>
                <a:cs typeface="DejaVu Sans"/>
              </a:rPr>
              <a:t>Store historical observations for trend analysis.</a:t>
            </a:r>
          </a:p>
          <a:p>
            <a:pPr>
              <a:buNone/>
              <a:defRPr sz="1875" b="0">
                <a:solidFill>
                  <a:srgbClr val="C6D4DB"/>
                </a:solidFill>
                <a:latin typeface="DejaVu Sans"/>
                <a:ea typeface="DejaVu Sans"/>
                <a:cs typeface="DejaVu Sans"/>
              </a:defRPr>
            </a:pPr>
            <a:r>
              <a:rPr sz="1875" b="0" dirty="0">
                <a:solidFill>
                  <a:srgbClr val="C6D4DB"/>
                </a:solidFill>
                <a:latin typeface="DejaVu Sans"/>
                <a:ea typeface="DejaVu Sans"/>
                <a:cs typeface="DejaVu Sans"/>
              </a:rPr>
              <a:t>Add location-specific official alert criteria.</a:t>
            </a:r>
            <a:endParaRPr lang="en-US" sz="1875" b="0" dirty="0">
              <a:solidFill>
                <a:srgbClr val="C6D4DB"/>
              </a:solidFill>
              <a:latin typeface="DejaVu Sans"/>
              <a:ea typeface="DejaVu Sans"/>
              <a:cs typeface="DejaVu Sans"/>
            </a:endParaRPr>
          </a:p>
          <a:p>
            <a:pPr>
              <a:buNone/>
              <a:defRPr sz="1875" b="0">
                <a:solidFill>
                  <a:srgbClr val="C6D4DB"/>
                </a:solidFill>
                <a:latin typeface="DejaVu Sans"/>
                <a:ea typeface="DejaVu Sans"/>
                <a:cs typeface="DejaVu Sans"/>
              </a:defRPr>
            </a:pPr>
            <a:endParaRPr lang="en-IN" sz="1875" dirty="0">
              <a:solidFill>
                <a:srgbClr val="C6D4DB"/>
              </a:solidFill>
              <a:latin typeface="DejaVu Sans"/>
              <a:ea typeface="DejaVu Sans"/>
              <a:cs typeface="DejaVu Sans"/>
            </a:endParaRPr>
          </a:p>
          <a:p>
            <a:pPr>
              <a:buNone/>
              <a:defRPr sz="1875" b="0">
                <a:solidFill>
                  <a:srgbClr val="C6D4DB"/>
                </a:solidFill>
                <a:latin typeface="DejaVu Sans"/>
                <a:ea typeface="DejaVu Sans"/>
                <a:cs typeface="DejaVu Sans"/>
              </a:defRPr>
            </a:pPr>
            <a:endParaRPr lang="en-IN" sz="1875" b="0" dirty="0">
              <a:solidFill>
                <a:srgbClr val="C6D4DB"/>
              </a:solidFill>
              <a:latin typeface="DejaVu Sans"/>
              <a:ea typeface="DejaVu Sans"/>
              <a:cs typeface="DejaVu Sans"/>
            </a:endParaRPr>
          </a:p>
          <a:p>
            <a:pPr>
              <a:buNone/>
              <a:defRPr sz="1875" b="0">
                <a:solidFill>
                  <a:srgbClr val="C6D4DB"/>
                </a:solidFill>
                <a:latin typeface="DejaVu Sans"/>
                <a:ea typeface="DejaVu Sans"/>
                <a:cs typeface="DejaVu Sans"/>
              </a:defRPr>
            </a:pPr>
            <a:endParaRPr lang="en-IN" sz="1875" dirty="0">
              <a:solidFill>
                <a:srgbClr val="C6D4DB"/>
              </a:solidFill>
              <a:latin typeface="DejaVu Sans"/>
              <a:ea typeface="DejaVu Sans"/>
              <a:cs typeface="DejaVu Sans"/>
            </a:endParaRPr>
          </a:p>
          <a:p>
            <a:pPr>
              <a:buNone/>
              <a:defRPr sz="1875" b="0">
                <a:solidFill>
                  <a:srgbClr val="C6D4DB"/>
                </a:solidFill>
                <a:latin typeface="DejaVu Sans"/>
                <a:ea typeface="DejaVu Sans"/>
                <a:cs typeface="DejaVu Sans"/>
              </a:defRPr>
            </a:pPr>
            <a:r>
              <a:rPr lang="en-IN" sz="1875" b="0" dirty="0">
                <a:solidFill>
                  <a:srgbClr val="C6D4DB"/>
                </a:solidFill>
                <a:latin typeface="DejaVu Sans"/>
                <a:ea typeface="DejaVu Sans"/>
                <a:cs typeface="DejaVu Sans"/>
              </a:rPr>
              <a:t>GITHUB </a:t>
            </a:r>
            <a:r>
              <a:rPr lang="en-IN" sz="1875" dirty="0">
                <a:solidFill>
                  <a:srgbClr val="C6D4DB"/>
                </a:solidFill>
                <a:latin typeface="DejaVu Sans"/>
                <a:ea typeface="DejaVu Sans"/>
                <a:cs typeface="DejaVu Sans"/>
              </a:rPr>
              <a:t>LINK:-</a:t>
            </a:r>
            <a:br>
              <a:rPr lang="en-IN" sz="1875" dirty="0">
                <a:solidFill>
                  <a:srgbClr val="C6D4DB"/>
                </a:solidFill>
                <a:latin typeface="DejaVu Sans"/>
                <a:ea typeface="DejaVu Sans"/>
                <a:cs typeface="DejaVu Sans"/>
              </a:rPr>
            </a:br>
            <a:r>
              <a:rPr lang="en-IN" sz="1875" dirty="0">
                <a:solidFill>
                  <a:srgbClr val="C6D4DB"/>
                </a:solidFill>
                <a:latin typeface="DejaVu Sans"/>
                <a:ea typeface="DejaVu Sans"/>
                <a:cs typeface="DejaVu Sans"/>
                <a:hlinkClick r:id="rId4"/>
              </a:rPr>
              <a:t>https://github.com/kehandesai/WDL-PPT</a:t>
            </a:r>
            <a:br>
              <a:rPr lang="en-IN" sz="1875" dirty="0">
                <a:solidFill>
                  <a:srgbClr val="C6D4DB"/>
                </a:solidFill>
                <a:latin typeface="DejaVu Sans"/>
                <a:ea typeface="DejaVu Sans"/>
                <a:cs typeface="DejaVu Sans"/>
              </a:rPr>
            </a:br>
            <a:br>
              <a:rPr lang="en-IN" sz="1875" b="0" dirty="0">
                <a:solidFill>
                  <a:srgbClr val="C6D4DB"/>
                </a:solidFill>
                <a:latin typeface="DejaVu Sans"/>
                <a:ea typeface="DejaVu Sans"/>
                <a:cs typeface="DejaVu Sans"/>
              </a:rPr>
            </a:br>
            <a:endParaRPr lang="en-IN" sz="1875" b="0" dirty="0">
              <a:solidFill>
                <a:srgbClr val="C6D4DB"/>
              </a:solidFill>
              <a:latin typeface="DejaVu Sans"/>
              <a:ea typeface="DejaVu Sans"/>
              <a:cs typeface="DejaVu Sans"/>
            </a:endParaRPr>
          </a:p>
        </p:txBody>
      </p:sp>
      <p:sp>
        <p:nvSpPr>
          <p:cNvPr id="7" name="09">
            <a:extLst>
              <a:ext uri="{FF2B5EF4-FFF2-40B4-BE49-F238E27FC236}">
                <a16:creationId xmlns:a16="http://schemas.microsoft.com/office/drawing/2014/main" id="{B326A0DE-89AA-4903-960D-B00F9BC46070}"/>
              </a:ext>
            </a:extLst>
          </p:cNvPr>
          <p:cNvSpPr>
            <a:spLocks noGrp="1"/>
          </p:cNvSpPr>
          <p:nvPr/>
        </p:nvSpPr>
        <p:spPr>
          <a:xfrm>
            <a:off x="11144250" y="6372225"/>
            <a:ext cx="428625" cy="257175"/>
          </a:xfrm>
          <a:prstGeom prst="rect">
            <a:avLst/>
          </a:prstGeom>
          <a:noFill/>
          <a:ln w="0">
            <a:noFill/>
          </a:ln>
        </p:spPr>
        <p:txBody>
          <a:bodyPr wrap="square" lIns="0" tIns="0" rIns="0" bIns="0" anchor="t">
            <a:noAutofit/>
          </a:bodyPr>
          <a:lstStyle/>
          <a:p>
            <a:pPr>
              <a:buNone/>
              <a:defRPr sz="1275" b="0">
                <a:solidFill>
                  <a:srgbClr val="C6D4DB"/>
                </a:solidFill>
                <a:latin typeface="DejaVu Sans"/>
                <a:ea typeface="DejaVu Sans"/>
                <a:cs typeface="DejaVu Sans"/>
              </a:defRPr>
            </a:pPr>
            <a:endParaRPr sz="1275" b="0" dirty="0">
              <a:solidFill>
                <a:srgbClr val="C6D4DB"/>
              </a:solidFill>
              <a:latin typeface="DejaVu Sans"/>
              <a:ea typeface="DejaVu Sans"/>
              <a:cs typeface="DejaVu Sans"/>
            </a:endParaRPr>
          </a:p>
        </p:txBody>
      </p:sp>
    </p:spTree>
    <p:extLst>
      <p:ext uri="{BB962C8B-B14F-4D97-AF65-F5344CB8AC3E}">
        <p14:creationId xmlns:p14="http://schemas.microsoft.com/office/powerpoint/2010/main" val="112559272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1068</Words>
  <Application>Microsoft Office PowerPoint</Application>
  <DocSecurity>0</DocSecurity>
  <PresentationFormat>Widescreen</PresentationFormat>
  <Paragraphs>118</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Dell</cp:lastModifiedBy>
  <cp:revision>2</cp:revision>
  <dcterms:created xsi:type="dcterms:W3CDTF">2026-10-02T20:09:38Z</dcterms:created>
  <dcterms:modified xsi:type="dcterms:W3CDTF">2026-10-15T08:49:03Z</dcterms:modified>
</cp:coreProperties>
</file>